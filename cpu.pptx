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6" r:id="rId3"/>
    <p:sldId id="267" r:id="rId4"/>
    <p:sldId id="278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9" r:id="rId14"/>
    <p:sldId id="280" r:id="rId15"/>
    <p:sldId id="281" r:id="rId16"/>
    <p:sldId id="27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93" d="100"/>
          <a:sy n="93" d="100"/>
        </p:scale>
        <p:origin x="7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57601-7F12-DA2A-9E7A-CB0CDF081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9B6EB5-70B8-7CE9-4170-CC64B7AC7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7D47BA-7FB2-0CC0-153B-3B4BF988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C69C-D433-4D96-855E-7FA3EB396BDF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10B56C-FBA3-CA2C-790C-F6B6C4C3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B9CA5D-83A2-E5F6-03C1-C30AFA9E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84D7-812B-469F-8469-1ADC6956DB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624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3D7756-13DB-890D-BCCA-6B1CC7868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69247F-3E73-2838-80D3-2BE529DE9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51FF83-33E7-1968-636A-9D9D9B2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C69C-D433-4D96-855E-7FA3EB396BDF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23E407-A9EA-FB23-A983-CFE7B016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F22D3D-8F88-6D08-75F1-5858A558B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84D7-812B-469F-8469-1ADC6956DB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42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0F471-E9F8-9840-2C55-80E6EE89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440F66-5FD8-B6BB-F0ED-89A208757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6FA7BB-3DFE-429D-C870-48995689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C69C-D433-4D96-855E-7FA3EB396BDF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0E9896-2629-252D-36BA-51A7064B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D527D1-C394-DBFF-FB3D-05083CDEB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84D7-812B-469F-8469-1ADC6956DB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44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AAA1A3-218B-0E70-8DD1-A51D11F7F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746988-4DE9-178C-A3FC-8DB52526A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5DA6CE-1C72-BCDB-D4CE-DBFAA02D1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FB4653-8C86-E7DD-CEC7-9EBAE254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C69C-D433-4D96-855E-7FA3EB396BDF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A4B3A1-27CD-8C2A-40FB-04E9F8D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0817BE-7BBB-9E48-A0A4-E7E34F85B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84D7-812B-469F-8469-1ADC6956DB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769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55196-D7AC-872B-3DD7-3E0F58CCD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C6048E-9513-8BDB-0878-37365E24C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1CB990-4201-1064-9869-1FAD19255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C695DB-BD57-6F06-5AED-C048D3EE6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FB403C-CCA1-A76C-E87E-03B9C4447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678EF5F-BDBB-165F-B182-CB91743A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C69C-D433-4D96-855E-7FA3EB396BDF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FF0DD54-7584-E288-FDFB-532C122B4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94DABB-ED95-9596-851D-F0A13CF1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84D7-812B-469F-8469-1ADC6956DB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14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209F8-E4AC-5678-1D5C-726DB5C78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2459E1-FDE8-972B-5361-3D731EA32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C69C-D433-4D96-855E-7FA3EB396BDF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4B4B87-3940-3115-A7F0-5BB6DE36C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736F13-5B1B-E2A1-E154-64FA0B88B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84D7-812B-469F-8469-1ADC6956DB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805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FF05AB-B771-9CE8-5662-7AB06CF65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C69C-D433-4D96-855E-7FA3EB396BDF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7D75F6-18FE-2FAB-1146-C7DF24507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1C5FE-A545-61A3-A664-C80EAC8D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84D7-812B-469F-8469-1ADC6956DB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103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EDF7B-57B6-2B3C-E438-B485A56CE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F87DE-A47C-F7A3-FDDC-EF1DE3129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23C7A1-B3F0-9E79-4E7A-63CD38DDB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25B00C-BE31-F12C-CF78-076492C53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C69C-D433-4D96-855E-7FA3EB396BDF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8753D5-797E-0BD6-0848-0FADB4526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DA23FF-D7FD-9DF4-92EC-02905112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84D7-812B-469F-8469-1ADC6956DB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765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55C6B-9A9A-2E19-E7F2-1156B4BAD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517713-7BD4-7741-303C-A9EBB35DE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4857B8-8531-E403-E27E-6E22DAE9C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879C9F-2A92-FE7F-B4C7-073A7AF5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C69C-D433-4D96-855E-7FA3EB396BDF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284820-FAE7-7B2F-B9BE-868CD3BD7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E37ECE-143A-245D-E445-7C0E9B2AC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84D7-812B-469F-8469-1ADC6956DB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124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4DCA6-BD27-2191-FC6A-3597C4A9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685FDC-083F-92BC-A95F-2C1C2F3FF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699D1B-F83E-07C0-3BD9-8F454882D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C69C-D433-4D96-855E-7FA3EB396BDF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DB1CFA-1FBA-ECBE-FD3E-D727C12A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AA868C-E864-EC98-9225-C00034522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84D7-812B-469F-8469-1ADC6956DB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46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D777A67-836E-9A54-5837-7D7357457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549DB5-ED7E-2C83-65EA-0EBCA325E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D9506E-D23A-991A-0F7D-8D1EBB0EE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C69C-D433-4D96-855E-7FA3EB396BDF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F47081-D297-D43B-4D83-0D3AB1036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C103F3-02E7-30DB-9572-39AD7FB1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D84D7-812B-469F-8469-1ADC6956DB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539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BE0710-C019-1F8A-868A-DEE745B74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CAC096-3FBA-9059-51CA-864817637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2E5A1A-9FBF-B398-23D8-7F1241701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C69C-D433-4D96-855E-7FA3EB396BDF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3E3A8B-5501-5228-585D-140B481682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E9C25C-AFAF-32B7-EC5B-96BA589DB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D84D7-812B-469F-8469-1ADC6956DB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32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86500B3-549E-010A-4AC3-A825DC0C4845}"/>
              </a:ext>
            </a:extLst>
          </p:cNvPr>
          <p:cNvSpPr txBox="1"/>
          <p:nvPr/>
        </p:nvSpPr>
        <p:spPr>
          <a:xfrm>
            <a:off x="988828" y="776177"/>
            <a:ext cx="109621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多周期 </a:t>
            </a:r>
            <a:r>
              <a:rPr lang="en-US" altLang="zh-CN" dirty="0"/>
              <a:t>MIPS CPU</a:t>
            </a:r>
          </a:p>
          <a:p>
            <a:endParaRPr lang="zh-CN" altLang="en-US" dirty="0"/>
          </a:p>
          <a:p>
            <a:r>
              <a:rPr lang="zh-CN" altLang="en-US" dirty="0"/>
              <a:t>设计思想：多周期状态机</a:t>
            </a:r>
          </a:p>
          <a:p>
            <a:r>
              <a:rPr lang="zh-CN" altLang="en-US" dirty="0"/>
              <a:t>不同于单周期 </a:t>
            </a:r>
            <a:r>
              <a:rPr lang="en-US" altLang="zh-CN" dirty="0"/>
              <a:t>CPU</a:t>
            </a:r>
            <a:r>
              <a:rPr lang="zh-CN" altLang="en-US" dirty="0"/>
              <a:t>，我这个设计的核心在于 </a:t>
            </a:r>
            <a:r>
              <a:rPr lang="en-US" altLang="zh-CN" dirty="0" err="1"/>
              <a:t>ControlUnit</a:t>
            </a:r>
            <a:r>
              <a:rPr lang="en-US" altLang="zh-CN" dirty="0"/>
              <a:t> </a:t>
            </a:r>
            <a:r>
              <a:rPr lang="zh-CN" altLang="en-US" dirty="0"/>
              <a:t>中的有限状态机 。它将每条指令的执行分为以下五个基本阶段：</a:t>
            </a:r>
          </a:p>
          <a:p>
            <a:endParaRPr lang="zh-CN" altLang="en-US" dirty="0"/>
          </a:p>
          <a:p>
            <a:r>
              <a:rPr lang="en-US" altLang="zh-CN" dirty="0" err="1"/>
              <a:t>sIF</a:t>
            </a:r>
            <a:r>
              <a:rPr lang="en-US" altLang="zh-CN" dirty="0"/>
              <a:t> (</a:t>
            </a:r>
            <a:r>
              <a:rPr lang="zh-CN" altLang="en-US" dirty="0"/>
              <a:t>取指</a:t>
            </a:r>
            <a:r>
              <a:rPr lang="en-US" altLang="zh-CN" dirty="0"/>
              <a:t>)</a:t>
            </a:r>
            <a:r>
              <a:rPr lang="zh-CN" altLang="en-US" dirty="0"/>
              <a:t>：从 </a:t>
            </a:r>
            <a:r>
              <a:rPr lang="en-US" altLang="zh-CN" dirty="0"/>
              <a:t>ROM </a:t>
            </a:r>
            <a:r>
              <a:rPr lang="zh-CN" altLang="en-US" dirty="0"/>
              <a:t>中读取指令并存入指令寄存器（</a:t>
            </a:r>
            <a:r>
              <a:rPr lang="en-US" altLang="zh-CN" dirty="0"/>
              <a:t>IR</a:t>
            </a:r>
            <a:r>
              <a:rPr lang="zh-CN" altLang="en-US" dirty="0"/>
              <a:t>） 。</a:t>
            </a:r>
          </a:p>
          <a:p>
            <a:endParaRPr lang="zh-CN" altLang="en-US" dirty="0"/>
          </a:p>
          <a:p>
            <a:r>
              <a:rPr lang="en-US" altLang="zh-CN" dirty="0" err="1"/>
              <a:t>sID</a:t>
            </a:r>
            <a:r>
              <a:rPr lang="en-US" altLang="zh-CN" dirty="0"/>
              <a:t> (</a:t>
            </a:r>
            <a:r>
              <a:rPr lang="zh-CN" altLang="en-US" dirty="0"/>
              <a:t>译码</a:t>
            </a:r>
            <a:r>
              <a:rPr lang="en-US" altLang="zh-CN" dirty="0"/>
              <a:t>)</a:t>
            </a:r>
            <a:r>
              <a:rPr lang="zh-CN" altLang="en-US" dirty="0"/>
              <a:t>：通过 </a:t>
            </a:r>
            <a:r>
              <a:rPr lang="en-US" altLang="zh-CN" dirty="0" err="1"/>
              <a:t>InstSplit</a:t>
            </a:r>
            <a:r>
              <a:rPr lang="en-US" altLang="zh-CN" dirty="0"/>
              <a:t> </a:t>
            </a:r>
            <a:r>
              <a:rPr lang="zh-CN" altLang="en-US" dirty="0"/>
              <a:t>解析指令字段，同时从寄存器堆读取数据 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en-US" altLang="zh-CN" dirty="0" err="1"/>
              <a:t>sEXE</a:t>
            </a:r>
            <a:r>
              <a:rPr lang="en-US" altLang="zh-CN" dirty="0"/>
              <a:t> (</a:t>
            </a:r>
            <a:r>
              <a:rPr lang="zh-CN" altLang="en-US" dirty="0"/>
              <a:t>执行</a:t>
            </a:r>
            <a:r>
              <a:rPr lang="en-US" altLang="zh-CN" dirty="0"/>
              <a:t>)</a:t>
            </a:r>
            <a:r>
              <a:rPr lang="zh-CN" altLang="en-US" dirty="0"/>
              <a:t>：利用 </a:t>
            </a:r>
            <a:r>
              <a:rPr lang="en-US" altLang="zh-CN" dirty="0"/>
              <a:t>ALU </a:t>
            </a:r>
            <a:r>
              <a:rPr lang="zh-CN" altLang="en-US" dirty="0"/>
              <a:t>进行算术逻辑运算、地址计算或分支比较 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en-US" altLang="zh-CN" dirty="0" err="1"/>
              <a:t>sMEM</a:t>
            </a:r>
            <a:r>
              <a:rPr lang="en-US" altLang="zh-CN" dirty="0"/>
              <a:t> (</a:t>
            </a:r>
            <a:r>
              <a:rPr lang="zh-CN" altLang="en-US" dirty="0"/>
              <a:t>访存</a:t>
            </a:r>
            <a:r>
              <a:rPr lang="en-US" altLang="zh-CN" dirty="0"/>
              <a:t>)</a:t>
            </a:r>
            <a:r>
              <a:rPr lang="zh-CN" altLang="en-US" dirty="0"/>
              <a:t>：针对 </a:t>
            </a:r>
            <a:r>
              <a:rPr lang="en-US" altLang="zh-CN" dirty="0"/>
              <a:t>LW </a:t>
            </a:r>
            <a:r>
              <a:rPr lang="zh-CN" altLang="en-US" dirty="0"/>
              <a:t>或 </a:t>
            </a:r>
            <a:r>
              <a:rPr lang="en-US" altLang="zh-CN" dirty="0"/>
              <a:t>SW </a:t>
            </a:r>
            <a:r>
              <a:rPr lang="zh-CN" altLang="en-US" dirty="0"/>
              <a:t>指令进行 </a:t>
            </a:r>
            <a:r>
              <a:rPr lang="en-US" altLang="zh-CN" dirty="0"/>
              <a:t>RAM </a:t>
            </a:r>
            <a:r>
              <a:rPr lang="zh-CN" altLang="en-US" dirty="0"/>
              <a:t>的读写操作 。</a:t>
            </a:r>
          </a:p>
          <a:p>
            <a:endParaRPr lang="zh-CN" altLang="en-US" dirty="0"/>
          </a:p>
          <a:p>
            <a:r>
              <a:rPr lang="en-US" altLang="zh-CN" dirty="0" err="1"/>
              <a:t>sWB</a:t>
            </a:r>
            <a:r>
              <a:rPr lang="en-US" altLang="zh-CN" dirty="0"/>
              <a:t> (</a:t>
            </a:r>
            <a:r>
              <a:rPr lang="zh-CN" altLang="en-US" dirty="0"/>
              <a:t>写回</a:t>
            </a:r>
            <a:r>
              <a:rPr lang="en-US" altLang="zh-CN" dirty="0"/>
              <a:t>)</a:t>
            </a:r>
            <a:r>
              <a:rPr lang="zh-CN" altLang="en-US" dirty="0"/>
              <a:t>：将结果或内存数据写回到寄存器堆中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4370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1C8F3D-BF76-DE53-00B8-9AEC10DB8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0814"/>
            <a:ext cx="12192000" cy="475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9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203F8B-A606-B877-ACC7-3972330120F5}"/>
              </a:ext>
            </a:extLst>
          </p:cNvPr>
          <p:cNvSpPr txBox="1"/>
          <p:nvPr/>
        </p:nvSpPr>
        <p:spPr>
          <a:xfrm>
            <a:off x="669851" y="393405"/>
            <a:ext cx="11174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控制单元（</a:t>
            </a:r>
            <a:r>
              <a:rPr lang="en-US" altLang="zh-CN" dirty="0" err="1"/>
              <a:t>ControlUnit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E59258-AE74-892B-FE00-5777B64C7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5" r="325" b="82636"/>
          <a:stretch>
            <a:fillRect/>
          </a:stretch>
        </p:blipFill>
        <p:spPr>
          <a:xfrm>
            <a:off x="8134225" y="2441253"/>
            <a:ext cx="3270965" cy="119084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CFD0943-25EF-63C6-611F-050FFA42A626}"/>
              </a:ext>
            </a:extLst>
          </p:cNvPr>
          <p:cNvSpPr txBox="1"/>
          <p:nvPr/>
        </p:nvSpPr>
        <p:spPr>
          <a:xfrm>
            <a:off x="786810" y="2200939"/>
            <a:ext cx="65815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状态寄存器更新块（时序逻辑）这部分代码决定了状态何时发生“物理跳转”</a:t>
            </a:r>
          </a:p>
          <a:p>
            <a:r>
              <a:rPr lang="zh-CN" altLang="en-US" dirty="0"/>
              <a:t>时钟触发：使用了 </a:t>
            </a:r>
            <a:r>
              <a:rPr lang="en-US" altLang="zh-CN" dirty="0" err="1"/>
              <a:t>negedge</a:t>
            </a:r>
            <a:r>
              <a:rPr lang="en-US" altLang="zh-CN" dirty="0"/>
              <a:t> </a:t>
            </a:r>
            <a:r>
              <a:rPr lang="en-US" altLang="zh-CN" dirty="0" err="1"/>
              <a:t>clk</a:t>
            </a:r>
            <a:r>
              <a:rPr lang="zh-CN" altLang="en-US" dirty="0"/>
              <a:t>（时钟下降沿） </a:t>
            </a:r>
          </a:p>
          <a:p>
            <a:r>
              <a:rPr lang="zh-CN" altLang="en-US" dirty="0"/>
              <a:t>在多周期设计中，下降沿更新状态，给组合逻辑留出足够的建立时间，确保在时钟上升沿时，各模块的数据已经稳定。</a:t>
            </a:r>
          </a:p>
          <a:p>
            <a:r>
              <a:rPr lang="zh-CN" altLang="en-US" dirty="0"/>
              <a:t>复位逻辑：当 </a:t>
            </a:r>
            <a:r>
              <a:rPr lang="en-US" altLang="zh-CN" dirty="0" err="1"/>
              <a:t>rst</a:t>
            </a:r>
            <a:r>
              <a:rPr lang="en-US" altLang="zh-CN" dirty="0"/>
              <a:t> </a:t>
            </a:r>
            <a:r>
              <a:rPr lang="zh-CN" altLang="en-US" dirty="0"/>
              <a:t>为高电平时，强制进入 </a:t>
            </a:r>
            <a:r>
              <a:rPr lang="en-US" altLang="zh-CN" dirty="0" err="1"/>
              <a:t>sINIT</a:t>
            </a:r>
            <a:r>
              <a:rPr lang="en-US" altLang="zh-CN" dirty="0"/>
              <a:t> </a:t>
            </a:r>
            <a:r>
              <a:rPr lang="zh-CN" altLang="en-US" dirty="0"/>
              <a:t>初始状态 </a:t>
            </a:r>
          </a:p>
          <a:p>
            <a:r>
              <a:rPr lang="zh-CN" altLang="en-US" dirty="0"/>
              <a:t>状态同步：在非复位情况下，每个时钟周期将计算好的 </a:t>
            </a:r>
            <a:r>
              <a:rPr lang="en-US" altLang="zh-CN" dirty="0" err="1"/>
              <a:t>next_state</a:t>
            </a:r>
            <a:r>
              <a:rPr lang="en-US" altLang="zh-CN" dirty="0"/>
              <a:t> </a:t>
            </a:r>
            <a:r>
              <a:rPr lang="zh-CN" altLang="en-US" dirty="0"/>
              <a:t>赋值给 </a:t>
            </a:r>
            <a:r>
              <a:rPr lang="en-US" altLang="zh-CN" dirty="0"/>
              <a:t>state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1352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5A9256C-290F-4286-58C8-B119B8F48E3E}"/>
              </a:ext>
            </a:extLst>
          </p:cNvPr>
          <p:cNvSpPr txBox="1"/>
          <p:nvPr/>
        </p:nvSpPr>
        <p:spPr>
          <a:xfrm>
            <a:off x="958150" y="1678586"/>
            <a:ext cx="609777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次态计算块（组合逻辑）这部分根据当前状态和输入信号（指令类型、运算标志）实时计算下一个状态 </a:t>
            </a:r>
          </a:p>
          <a:p>
            <a:r>
              <a:rPr lang="zh-CN" altLang="en-US" dirty="0"/>
              <a:t>状态转移的详细逻辑：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系统启动后，无条件进入取指阶段 。</a:t>
            </a:r>
          </a:p>
          <a:p>
            <a:r>
              <a:rPr lang="zh-CN" altLang="en-US" dirty="0"/>
              <a:t>取指完成后，进入译码阶段 。</a:t>
            </a:r>
          </a:p>
          <a:p>
            <a:r>
              <a:rPr lang="zh-CN" altLang="en-US" dirty="0"/>
              <a:t>其他例如</a:t>
            </a:r>
          </a:p>
          <a:p>
            <a:r>
              <a:rPr lang="zh-CN" altLang="en-US" dirty="0"/>
              <a:t>译码的分支：</a:t>
            </a:r>
          </a:p>
          <a:p>
            <a:r>
              <a:rPr lang="zh-CN" altLang="en-US" dirty="0"/>
              <a:t>如果是跳转指令（</a:t>
            </a:r>
            <a:r>
              <a:rPr lang="en-US" altLang="zh-CN" dirty="0"/>
              <a:t>`J`</a:t>
            </a:r>
            <a:r>
              <a:rPr lang="zh-CN" altLang="en-US" dirty="0"/>
              <a:t>、</a:t>
            </a:r>
            <a:r>
              <a:rPr lang="en-US" altLang="zh-CN" dirty="0"/>
              <a:t>`JAL`</a:t>
            </a:r>
            <a:r>
              <a:rPr lang="zh-CN" altLang="en-US" dirty="0"/>
              <a:t>、</a:t>
            </a:r>
            <a:r>
              <a:rPr lang="en-US" altLang="zh-CN" dirty="0"/>
              <a:t>`JR`</a:t>
            </a:r>
            <a:r>
              <a:rPr lang="zh-CN" altLang="en-US" dirty="0"/>
              <a:t>），它们不需要经过 </a:t>
            </a:r>
            <a:r>
              <a:rPr lang="en-US" altLang="zh-CN" dirty="0"/>
              <a:t>ALU </a:t>
            </a:r>
            <a:r>
              <a:rPr lang="zh-CN" altLang="en-US" dirty="0"/>
              <a:t>计算或访存，执行速度最快，直接在译码后跳回 </a:t>
            </a:r>
            <a:r>
              <a:rPr lang="en-US" altLang="zh-CN" dirty="0"/>
              <a:t>`</a:t>
            </a:r>
            <a:r>
              <a:rPr lang="en-US" altLang="zh-CN" dirty="0" err="1"/>
              <a:t>sIF</a:t>
            </a:r>
            <a:r>
              <a:rPr lang="en-US" altLang="zh-CN" dirty="0"/>
              <a:t>` </a:t>
            </a:r>
            <a:r>
              <a:rPr lang="zh-CN" altLang="en-US" dirty="0"/>
              <a:t>开始下一条指令 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0791B5-CCB7-D51D-66DD-9141A4EB7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965" y="890587"/>
            <a:ext cx="3286125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28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53A34AD-EE91-387C-1393-479D2720BFBD}"/>
              </a:ext>
            </a:extLst>
          </p:cNvPr>
          <p:cNvSpPr txBox="1"/>
          <p:nvPr/>
        </p:nvSpPr>
        <p:spPr>
          <a:xfrm>
            <a:off x="1041991" y="1012161"/>
            <a:ext cx="10334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PC</a:t>
            </a:r>
            <a:r>
              <a:rPr lang="zh-CN" altLang="en-US" dirty="0"/>
              <a:t>模块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37FFF4-8704-2E4D-1B68-FF070CF52FCF}"/>
              </a:ext>
            </a:extLst>
          </p:cNvPr>
          <p:cNvSpPr txBox="1"/>
          <p:nvPr/>
        </p:nvSpPr>
        <p:spPr>
          <a:xfrm>
            <a:off x="967563" y="2244853"/>
            <a:ext cx="95480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程序计数器 </a:t>
            </a:r>
            <a:r>
              <a:rPr lang="en-US" altLang="zh-CN" dirty="0"/>
              <a:t>(PC) </a:t>
            </a:r>
            <a:r>
              <a:rPr lang="zh-CN" altLang="en-US" dirty="0"/>
              <a:t>模块</a:t>
            </a:r>
          </a:p>
          <a:p>
            <a:endParaRPr lang="zh-CN" altLang="en-US" dirty="0"/>
          </a:p>
          <a:p>
            <a:r>
              <a:rPr lang="en-US" altLang="zh-CN" sz="1600" dirty="0"/>
              <a:t>PC </a:t>
            </a:r>
            <a:r>
              <a:rPr lang="zh-CN" altLang="en-US" sz="1600" dirty="0"/>
              <a:t>是一个 </a:t>
            </a:r>
            <a:r>
              <a:rPr lang="en-US" altLang="zh-CN" sz="1600" dirty="0"/>
              <a:t>32 </a:t>
            </a:r>
            <a:r>
              <a:rPr lang="zh-CN" altLang="en-US" sz="1600" dirty="0"/>
              <a:t>位的寄存器，它指示了当前正在执行指令的物理地址 。</a:t>
            </a:r>
          </a:p>
          <a:p>
            <a:endParaRPr lang="zh-CN" altLang="en-US" sz="1600" dirty="0"/>
          </a:p>
          <a:p>
            <a:r>
              <a:rPr lang="zh-CN" altLang="en-US" sz="1600" dirty="0"/>
              <a:t>复位初始化：系统复位（</a:t>
            </a:r>
            <a:r>
              <a:rPr lang="en-US" altLang="zh-CN" sz="1600" dirty="0" err="1"/>
              <a:t>rst</a:t>
            </a:r>
            <a:r>
              <a:rPr lang="zh-CN" altLang="en-US" sz="1600" dirty="0"/>
              <a:t>）时，</a:t>
            </a:r>
            <a:r>
              <a:rPr lang="en-US" altLang="zh-CN" sz="1600" dirty="0"/>
              <a:t>PC </a:t>
            </a:r>
            <a:r>
              <a:rPr lang="zh-CN" altLang="en-US" sz="1600" dirty="0"/>
              <a:t>会被清零，从地址 </a:t>
            </a:r>
            <a:r>
              <a:rPr lang="en-US" altLang="zh-CN" sz="1600" dirty="0"/>
              <a:t>`32'd0` </a:t>
            </a:r>
            <a:r>
              <a:rPr lang="zh-CN" altLang="en-US" sz="1600" dirty="0"/>
              <a:t>开始执行 。</a:t>
            </a:r>
          </a:p>
          <a:p>
            <a:endParaRPr lang="zh-CN" altLang="en-US" sz="1600" dirty="0"/>
          </a:p>
          <a:p>
            <a:r>
              <a:rPr lang="zh-CN" altLang="en-US" sz="1600" dirty="0"/>
              <a:t>时序更新：它在时钟的下降沿触发更新 。</a:t>
            </a:r>
          </a:p>
          <a:p>
            <a:endParaRPr lang="zh-CN" altLang="en-US" sz="1600" dirty="0"/>
          </a:p>
          <a:p>
            <a:r>
              <a:rPr lang="zh-CN" altLang="en-US" sz="1600" dirty="0"/>
              <a:t>受控更新（</a:t>
            </a:r>
            <a:r>
              <a:rPr lang="en-US" altLang="zh-CN" sz="1600" dirty="0" err="1"/>
              <a:t>PCWr</a:t>
            </a:r>
            <a:r>
              <a:rPr lang="zh-CN" altLang="en-US" sz="1600" dirty="0"/>
              <a:t>）：</a:t>
            </a:r>
            <a:r>
              <a:rPr lang="en-US" altLang="zh-CN" sz="1600" dirty="0"/>
              <a:t>PC </a:t>
            </a:r>
            <a:r>
              <a:rPr lang="zh-CN" altLang="en-US" sz="1600" dirty="0"/>
              <a:t>并不是每个时钟周期都自增。只有当 </a:t>
            </a:r>
            <a:r>
              <a:rPr lang="en-US" altLang="zh-CN" sz="1600" dirty="0"/>
              <a:t>`</a:t>
            </a:r>
            <a:r>
              <a:rPr lang="en-US" altLang="zh-CN" sz="1600" dirty="0" err="1"/>
              <a:t>ControlUnit</a:t>
            </a:r>
            <a:r>
              <a:rPr lang="en-US" altLang="zh-CN" sz="1600" dirty="0"/>
              <a:t>` </a:t>
            </a:r>
            <a:r>
              <a:rPr lang="zh-CN" altLang="en-US" sz="1600" dirty="0"/>
              <a:t>发出 </a:t>
            </a:r>
            <a:r>
              <a:rPr lang="en-US" altLang="zh-CN" sz="1600" dirty="0"/>
              <a:t>`</a:t>
            </a:r>
            <a:r>
              <a:rPr lang="en-US" altLang="zh-CN" sz="1600" dirty="0" err="1"/>
              <a:t>PCWr</a:t>
            </a:r>
            <a:r>
              <a:rPr lang="en-US" altLang="zh-CN" sz="1600" dirty="0"/>
              <a:t>`</a:t>
            </a:r>
            <a:r>
              <a:rPr lang="zh-CN" altLang="en-US" sz="1600" dirty="0"/>
              <a:t>（</a:t>
            </a:r>
            <a:r>
              <a:rPr lang="en-US" altLang="zh-CN" sz="1600" dirty="0"/>
              <a:t>PC</a:t>
            </a:r>
            <a:r>
              <a:rPr lang="zh-CN" altLang="en-US" sz="1600" dirty="0"/>
              <a:t>写使能）有效信号时，</a:t>
            </a:r>
            <a:r>
              <a:rPr lang="en-US" altLang="zh-CN" sz="1600" dirty="0"/>
              <a:t>PC </a:t>
            </a:r>
            <a:r>
              <a:rPr lang="zh-CN" altLang="en-US" sz="1600" dirty="0"/>
              <a:t>才会接收来自 </a:t>
            </a:r>
            <a:r>
              <a:rPr lang="en-US" altLang="zh-CN" sz="1600" dirty="0"/>
              <a:t>`</a:t>
            </a:r>
            <a:r>
              <a:rPr lang="en-US" altLang="zh-CN" sz="1600" dirty="0" err="1"/>
              <a:t>PC_next</a:t>
            </a:r>
            <a:r>
              <a:rPr lang="en-US" altLang="zh-CN" sz="1600" dirty="0"/>
              <a:t>` </a:t>
            </a:r>
            <a:r>
              <a:rPr lang="zh-CN" altLang="en-US" sz="1600" dirty="0"/>
              <a:t>的新地址 。在多周期设计中，这通常发生在一条指令执行结束的那个周期 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0148EC-061F-38BD-2B10-DFFC543A8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404" y="1196827"/>
            <a:ext cx="319087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307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127E848-0EE0-0006-0444-7B0E3B85E440}"/>
              </a:ext>
            </a:extLst>
          </p:cNvPr>
          <p:cNvSpPr txBox="1"/>
          <p:nvPr/>
        </p:nvSpPr>
        <p:spPr>
          <a:xfrm>
            <a:off x="520995" y="340241"/>
            <a:ext cx="9877647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下一地址计算 </a:t>
            </a:r>
            <a:r>
              <a:rPr lang="en-US" altLang="zh-CN" dirty="0"/>
              <a:t>(</a:t>
            </a:r>
            <a:r>
              <a:rPr lang="en-US" altLang="zh-CN" dirty="0" err="1"/>
              <a:t>PC_next</a:t>
            </a:r>
            <a:r>
              <a:rPr lang="en-US" altLang="zh-CN" dirty="0"/>
              <a:t>) </a:t>
            </a:r>
            <a:r>
              <a:rPr lang="zh-CN" altLang="en-US" dirty="0"/>
              <a:t>模块</a:t>
            </a:r>
          </a:p>
          <a:p>
            <a:endParaRPr lang="zh-CN" altLang="en-US" dirty="0"/>
          </a:p>
          <a:p>
            <a:r>
              <a:rPr lang="zh-CN" altLang="en-US" sz="1600" dirty="0"/>
              <a:t>这是取指模块的“决策中心”，负责根据当前的指令执行情况计算出下一条指令的地址 。</a:t>
            </a:r>
          </a:p>
          <a:p>
            <a:endParaRPr lang="zh-CN" altLang="en-US" sz="1600" dirty="0"/>
          </a:p>
          <a:p>
            <a:r>
              <a:rPr lang="zh-CN" altLang="en-US" sz="1600" dirty="0"/>
              <a:t>它通过 </a:t>
            </a:r>
            <a:r>
              <a:rPr lang="en-US" altLang="zh-CN" sz="1600" dirty="0"/>
              <a:t>`</a:t>
            </a:r>
            <a:r>
              <a:rPr lang="en-US" altLang="zh-CN" sz="1600" dirty="0" err="1"/>
              <a:t>PCSource</a:t>
            </a:r>
            <a:r>
              <a:rPr lang="en-US" altLang="zh-CN" sz="1600" dirty="0"/>
              <a:t>` </a:t>
            </a:r>
            <a:r>
              <a:rPr lang="zh-CN" altLang="en-US" sz="1600" dirty="0"/>
              <a:t>信号来选择四个不同的来源：</a:t>
            </a:r>
          </a:p>
          <a:p>
            <a:endParaRPr lang="zh-CN" altLang="en-US" sz="1600" dirty="0"/>
          </a:p>
          <a:p>
            <a:r>
              <a:rPr lang="zh-CN" altLang="en-US" sz="1600" dirty="0"/>
              <a:t>顺序执行 </a:t>
            </a:r>
            <a:r>
              <a:rPr lang="en-US" altLang="zh-CN" sz="1600" dirty="0"/>
              <a:t>(2'b00)</a:t>
            </a:r>
            <a:r>
              <a:rPr lang="zh-CN" altLang="en-US" sz="1600" dirty="0"/>
              <a:t>：</a:t>
            </a:r>
            <a:r>
              <a:rPr lang="zh-CN" altLang="zh-CN" sz="1600" dirty="0"/>
              <a:t>计算 PC + 4 </a:t>
            </a:r>
            <a:r>
              <a:rPr lang="zh-CN" altLang="en-US" sz="1600" dirty="0"/>
              <a:t>，指向内存中的下一条指令 。</a:t>
            </a:r>
            <a:endParaRPr lang="en-US" altLang="zh-CN" sz="1600" dirty="0"/>
          </a:p>
          <a:p>
            <a:endParaRPr lang="zh-CN" altLang="en-US" sz="1600" dirty="0"/>
          </a:p>
          <a:p>
            <a:r>
              <a:rPr lang="zh-CN" altLang="en-US" sz="1600" dirty="0"/>
              <a:t>分支跳转 </a:t>
            </a:r>
            <a:r>
              <a:rPr lang="en-US" altLang="zh-CN" sz="1600" dirty="0"/>
              <a:t>(2‘b01)</a:t>
            </a:r>
            <a:r>
              <a:rPr lang="zh-CN" altLang="en-US" sz="1600" dirty="0"/>
              <a:t>：</a:t>
            </a:r>
            <a:r>
              <a:rPr lang="zh-CN" altLang="zh-CN" sz="1600" dirty="0"/>
              <a:t>计算 PC + 4 + (offset </a:t>
            </a:r>
            <a:r>
              <a:rPr lang="en-US" altLang="zh-CN" sz="1600" dirty="0"/>
              <a:t>*</a:t>
            </a:r>
            <a:r>
              <a:rPr lang="zh-CN" altLang="zh-CN" sz="1600" dirty="0"/>
              <a:t>4)</a:t>
            </a:r>
            <a:r>
              <a:rPr lang="en-US" altLang="zh-CN" sz="1600" dirty="0"/>
              <a:t>,</a:t>
            </a:r>
            <a:r>
              <a:rPr lang="zh-CN" altLang="en-US" sz="1600" dirty="0"/>
              <a:t>用于 </a:t>
            </a:r>
            <a:r>
              <a:rPr lang="en-US" altLang="zh-CN" sz="1600" dirty="0"/>
              <a:t>`BEQ` </a:t>
            </a:r>
            <a:r>
              <a:rPr lang="zh-CN" altLang="en-US" sz="1600" dirty="0"/>
              <a:t>或 </a:t>
            </a:r>
            <a:r>
              <a:rPr lang="en-US" altLang="zh-CN" sz="1600" dirty="0"/>
              <a:t>`BNE` </a:t>
            </a:r>
            <a:r>
              <a:rPr lang="zh-CN" altLang="en-US" sz="1600" dirty="0"/>
              <a:t>指令，当跳转条件满足时使用 。</a:t>
            </a:r>
          </a:p>
          <a:p>
            <a:endParaRPr lang="zh-CN" altLang="en-US" sz="1600" dirty="0"/>
          </a:p>
          <a:p>
            <a:r>
              <a:rPr lang="zh-CN" altLang="en-US" sz="1600" dirty="0"/>
              <a:t>寄存器跳转 </a:t>
            </a:r>
            <a:r>
              <a:rPr lang="en-US" altLang="zh-CN" sz="1600" dirty="0"/>
              <a:t>(2‘b10)</a:t>
            </a:r>
            <a:r>
              <a:rPr lang="zh-CN" altLang="en-US" sz="1600" dirty="0"/>
              <a:t>：直接将寄存器的值（如 ）赋给 </a:t>
            </a:r>
            <a:r>
              <a:rPr lang="en-US" altLang="zh-CN" sz="1600" dirty="0"/>
              <a:t>PC</a:t>
            </a:r>
            <a:r>
              <a:rPr lang="zh-CN" altLang="en-US" sz="1600" dirty="0"/>
              <a:t>。专门用于寄存器跳转指令 。</a:t>
            </a:r>
          </a:p>
          <a:p>
            <a:endParaRPr lang="zh-CN" altLang="en-US" sz="1600" dirty="0"/>
          </a:p>
          <a:p>
            <a:r>
              <a:rPr lang="zh-CN" altLang="en-US" sz="1600" dirty="0"/>
              <a:t>直接跳转 </a:t>
            </a:r>
            <a:r>
              <a:rPr lang="en-US" altLang="zh-CN" sz="1600" dirty="0"/>
              <a:t>(2'b11)</a:t>
            </a:r>
            <a:r>
              <a:rPr lang="zh-CN" altLang="en-US" sz="1600" dirty="0"/>
              <a:t>：将 </a:t>
            </a:r>
            <a:r>
              <a:rPr lang="en-US" altLang="zh-CN" sz="1600" dirty="0"/>
              <a:t>PC </a:t>
            </a:r>
            <a:r>
              <a:rPr lang="zh-CN" altLang="en-US" sz="1600" dirty="0"/>
              <a:t>高位与指令中的 </a:t>
            </a:r>
            <a:r>
              <a:rPr lang="en-US" altLang="zh-CN" sz="1600" dirty="0"/>
              <a:t>26 </a:t>
            </a:r>
            <a:r>
              <a:rPr lang="zh-CN" altLang="en-US" sz="1600" dirty="0"/>
              <a:t>位地址拼合，实现大范围跳转。用于 </a:t>
            </a:r>
            <a:r>
              <a:rPr lang="en-US" altLang="zh-CN" sz="1600" dirty="0"/>
              <a:t>`J` </a:t>
            </a:r>
            <a:r>
              <a:rPr lang="zh-CN" altLang="en-US" sz="1600" dirty="0"/>
              <a:t>和 </a:t>
            </a:r>
            <a:r>
              <a:rPr lang="en-US" altLang="zh-CN" sz="1600" dirty="0"/>
              <a:t>`JAL` </a:t>
            </a:r>
            <a:r>
              <a:rPr lang="zh-CN" altLang="en-US" sz="1600" dirty="0"/>
              <a:t>指令 。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452F26-2102-984A-39CF-977830894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298" y="3972004"/>
            <a:ext cx="5914286" cy="2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45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F6517D8-0B36-AE56-CF47-CD889E5F1E2B}"/>
              </a:ext>
            </a:extLst>
          </p:cNvPr>
          <p:cNvSpPr txBox="1"/>
          <p:nvPr/>
        </p:nvSpPr>
        <p:spPr>
          <a:xfrm>
            <a:off x="935665" y="1041530"/>
            <a:ext cx="9218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ALU</a:t>
            </a:r>
            <a:r>
              <a:rPr lang="zh-CN" altLang="en-US" dirty="0"/>
              <a:t>模块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2FE407-79CB-12AC-B1B8-7C75D64636EB}"/>
              </a:ext>
            </a:extLst>
          </p:cNvPr>
          <p:cNvSpPr txBox="1"/>
          <p:nvPr/>
        </p:nvSpPr>
        <p:spPr>
          <a:xfrm>
            <a:off x="935665" y="1998921"/>
            <a:ext cx="95374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数据源选择 </a:t>
            </a:r>
            <a:r>
              <a:rPr lang="en-US" altLang="zh-CN" dirty="0"/>
              <a:t>(</a:t>
            </a:r>
            <a:r>
              <a:rPr lang="en-US" altLang="zh-CN" dirty="0" err="1"/>
              <a:t>ALUSrcA</a:t>
            </a:r>
            <a:r>
              <a:rPr lang="en-US" altLang="zh-CN" dirty="0"/>
              <a:t> &amp; </a:t>
            </a:r>
            <a:r>
              <a:rPr lang="en-US" altLang="zh-CN" dirty="0" err="1"/>
              <a:t>ALUSrcB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这是实现多种指令格式的关键，通过多路选择器决定运算数：</a:t>
            </a:r>
          </a:p>
          <a:p>
            <a:endParaRPr lang="zh-CN" altLang="en-US" dirty="0"/>
          </a:p>
          <a:p>
            <a:r>
              <a:rPr lang="en-US" altLang="zh-CN" dirty="0" err="1"/>
              <a:t>ALUSrcA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0: </a:t>
            </a:r>
            <a:r>
              <a:rPr lang="zh-CN" altLang="en-US" dirty="0"/>
              <a:t>选择寄存器读出的数据 </a:t>
            </a:r>
            <a:r>
              <a:rPr lang="en-US" altLang="zh-CN" dirty="0" err="1"/>
              <a:t>DataInA</a:t>
            </a:r>
            <a:r>
              <a:rPr lang="en-US" altLang="zh-CN" dirty="0"/>
              <a:t> (</a:t>
            </a:r>
            <a:r>
              <a:rPr lang="en-US" altLang="zh-CN" dirty="0" err="1"/>
              <a:t>rs</a:t>
            </a:r>
            <a:r>
              <a:rPr lang="en-US" altLang="zh-CN" dirty="0"/>
              <a:t>) 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1: </a:t>
            </a:r>
            <a:r>
              <a:rPr lang="zh-CN" altLang="en-US" dirty="0"/>
              <a:t>选择移位量 </a:t>
            </a:r>
            <a:r>
              <a:rPr lang="en-US" altLang="zh-CN" dirty="0" err="1"/>
              <a:t>sa</a:t>
            </a:r>
            <a:r>
              <a:rPr lang="zh-CN" altLang="en-US" dirty="0"/>
              <a:t>，用于处理移位指令（如 </a:t>
            </a:r>
            <a:r>
              <a:rPr lang="en-US" altLang="zh-CN" dirty="0"/>
              <a:t>SLL</a:t>
            </a:r>
            <a:r>
              <a:rPr lang="zh-CN" altLang="en-US" dirty="0"/>
              <a:t>） 。</a:t>
            </a:r>
          </a:p>
          <a:p>
            <a:endParaRPr lang="zh-CN" altLang="en-US" dirty="0"/>
          </a:p>
          <a:p>
            <a:r>
              <a:rPr lang="en-US" altLang="zh-CN" dirty="0" err="1"/>
              <a:t>ALUSrcB</a:t>
            </a:r>
            <a:r>
              <a:rPr lang="zh-CN" altLang="en-US" dirty="0"/>
              <a:t>：</a:t>
            </a:r>
          </a:p>
          <a:p>
            <a:r>
              <a:rPr lang="en-US" altLang="zh-CN" dirty="0"/>
              <a:t>0: </a:t>
            </a:r>
            <a:r>
              <a:rPr lang="zh-CN" altLang="en-US" dirty="0"/>
              <a:t>选择寄存器读出的数据 </a:t>
            </a:r>
            <a:r>
              <a:rPr lang="en-US" altLang="zh-CN" dirty="0" err="1"/>
              <a:t>DataInB</a:t>
            </a:r>
            <a:r>
              <a:rPr lang="en-US" altLang="zh-CN" dirty="0"/>
              <a:t> (rt) 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1: </a:t>
            </a:r>
            <a:r>
              <a:rPr lang="zh-CN" altLang="en-US" dirty="0"/>
              <a:t>选择经过符号扩展或零扩展后的立即数 </a:t>
            </a:r>
            <a:r>
              <a:rPr lang="en-US" altLang="zh-CN" dirty="0"/>
              <a:t>extend 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4397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D32140F-DA8A-EB3E-DBD1-B943430A2D99}"/>
              </a:ext>
            </a:extLst>
          </p:cNvPr>
          <p:cNvSpPr txBox="1"/>
          <p:nvPr/>
        </p:nvSpPr>
        <p:spPr>
          <a:xfrm>
            <a:off x="595424" y="1318437"/>
            <a:ext cx="103242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运算功能实现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ALU </a:t>
            </a:r>
            <a:r>
              <a:rPr lang="zh-CN" altLang="en-US" dirty="0"/>
              <a:t>根据 </a:t>
            </a:r>
            <a:r>
              <a:rPr lang="en-US" altLang="zh-CN" dirty="0" err="1"/>
              <a:t>ControlUnit</a:t>
            </a:r>
            <a:r>
              <a:rPr lang="en-US" altLang="zh-CN" dirty="0"/>
              <a:t> </a:t>
            </a:r>
            <a:r>
              <a:rPr lang="zh-CN" altLang="en-US" dirty="0"/>
              <a:t>传来的 </a:t>
            </a:r>
            <a:r>
              <a:rPr lang="en-US" altLang="zh-CN" dirty="0"/>
              <a:t>4 </a:t>
            </a:r>
            <a:r>
              <a:rPr lang="zh-CN" altLang="en-US" dirty="0"/>
              <a:t>位 </a:t>
            </a:r>
            <a:r>
              <a:rPr lang="en-US" altLang="zh-CN" dirty="0" err="1"/>
              <a:t>ALUop</a:t>
            </a:r>
            <a:r>
              <a:rPr lang="en-US" altLang="zh-CN" dirty="0"/>
              <a:t> </a:t>
            </a:r>
            <a:r>
              <a:rPr lang="zh-CN" altLang="en-US" dirty="0"/>
              <a:t>执行具体操作 ：</a:t>
            </a:r>
          </a:p>
          <a:p>
            <a:endParaRPr lang="zh-CN" altLang="en-US" dirty="0"/>
          </a:p>
          <a:p>
            <a:r>
              <a:rPr lang="zh-CN" altLang="en-US" dirty="0"/>
              <a:t>算术运算：支持加法（</a:t>
            </a:r>
            <a:r>
              <a:rPr lang="en-US" altLang="zh-CN" dirty="0"/>
              <a:t>ADD/ADDU</a:t>
            </a:r>
            <a:r>
              <a:rPr lang="zh-CN" altLang="en-US" dirty="0"/>
              <a:t>）、减法（</a:t>
            </a:r>
            <a:r>
              <a:rPr lang="en-US" altLang="zh-CN" dirty="0"/>
              <a:t>SUB/SUBU</a:t>
            </a:r>
            <a:r>
              <a:rPr lang="zh-CN" altLang="en-US" dirty="0"/>
              <a:t>） 。</a:t>
            </a:r>
          </a:p>
          <a:p>
            <a:endParaRPr lang="zh-CN" altLang="en-US" dirty="0"/>
          </a:p>
          <a:p>
            <a:r>
              <a:rPr lang="zh-CN" altLang="en-US" dirty="0"/>
              <a:t>逻辑运算：包含 </a:t>
            </a:r>
            <a:r>
              <a:rPr lang="en-US" altLang="zh-CN" dirty="0"/>
              <a:t>AND</a:t>
            </a:r>
            <a:r>
              <a:rPr lang="zh-CN" altLang="en-US" dirty="0"/>
              <a:t>、</a:t>
            </a:r>
            <a:r>
              <a:rPr lang="en-US" altLang="zh-CN" dirty="0"/>
              <a:t>OR</a:t>
            </a:r>
            <a:r>
              <a:rPr lang="zh-CN" altLang="en-US" dirty="0"/>
              <a:t>、</a:t>
            </a:r>
            <a:r>
              <a:rPr lang="en-US" altLang="zh-CN" dirty="0"/>
              <a:t>XOR</a:t>
            </a:r>
            <a:r>
              <a:rPr lang="zh-CN" altLang="en-US" dirty="0"/>
              <a:t>、</a:t>
            </a:r>
            <a:r>
              <a:rPr lang="en-US" altLang="zh-CN" dirty="0"/>
              <a:t>NOR</a:t>
            </a:r>
            <a:r>
              <a:rPr lang="zh-CN" altLang="en-US" dirty="0"/>
              <a:t>，以及专门为 </a:t>
            </a:r>
            <a:r>
              <a:rPr lang="en-US" altLang="zh-CN" dirty="0"/>
              <a:t>LUI </a:t>
            </a:r>
            <a:r>
              <a:rPr lang="zh-CN" altLang="en-US" dirty="0"/>
              <a:t>指令</a:t>
            </a:r>
            <a:endParaRPr lang="en-US" altLang="zh-CN" dirty="0"/>
          </a:p>
          <a:p>
            <a:r>
              <a:rPr lang="zh-CN" altLang="en-US" dirty="0"/>
              <a:t>设计的位移拼接逻辑 </a:t>
            </a:r>
          </a:p>
          <a:p>
            <a:endParaRPr lang="zh-CN" altLang="en-US" dirty="0"/>
          </a:p>
          <a:p>
            <a:r>
              <a:rPr lang="zh-CN" altLang="en-US" dirty="0"/>
              <a:t>比较与位移：</a:t>
            </a:r>
          </a:p>
          <a:p>
            <a:endParaRPr lang="zh-CN" altLang="en-US" dirty="0"/>
          </a:p>
          <a:p>
            <a:r>
              <a:rPr lang="en-US" altLang="zh-CN" dirty="0"/>
              <a:t>SLT/SLTU</a:t>
            </a:r>
            <a:r>
              <a:rPr lang="zh-CN" altLang="en-US" dirty="0"/>
              <a:t>：根据有符号或无符号比较结果输出 </a:t>
            </a:r>
            <a:r>
              <a:rPr lang="en-US" altLang="zh-CN" dirty="0"/>
              <a:t>0 </a:t>
            </a:r>
            <a:r>
              <a:rPr lang="zh-CN" altLang="en-US" dirty="0"/>
              <a:t>或 </a:t>
            </a:r>
            <a:r>
              <a:rPr lang="en-US" altLang="zh-CN" dirty="0"/>
              <a:t>1 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r>
              <a:rPr lang="en-US" altLang="zh-CN" dirty="0"/>
              <a:t>SLL/SRL/SRA</a:t>
            </a:r>
            <a:r>
              <a:rPr lang="zh-CN" altLang="en-US" dirty="0"/>
              <a:t>：支持逻辑</a:t>
            </a:r>
            <a:r>
              <a:rPr lang="en-US" altLang="zh-CN" dirty="0"/>
              <a:t>/</a:t>
            </a:r>
            <a:r>
              <a:rPr lang="zh-CN" altLang="en-US" dirty="0"/>
              <a:t>算术左移和右移 。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94F8ED-9C32-D80C-6729-D9EAC5959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036" y="619150"/>
            <a:ext cx="4291179" cy="564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24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7951BF5-2BA8-8DC5-A333-E29B2B731568}"/>
              </a:ext>
            </a:extLst>
          </p:cNvPr>
          <p:cNvSpPr txBox="1"/>
          <p:nvPr/>
        </p:nvSpPr>
        <p:spPr>
          <a:xfrm>
            <a:off x="446568" y="1201501"/>
            <a:ext cx="72195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状态反馈 </a:t>
            </a:r>
            <a:r>
              <a:rPr lang="en-US" altLang="zh-CN" b="1" dirty="0"/>
              <a:t>(</a:t>
            </a:r>
            <a:r>
              <a:rPr lang="en-US" altLang="zh-CN" b="1" dirty="0" err="1"/>
              <a:t>ZeroFlag</a:t>
            </a:r>
            <a:r>
              <a:rPr lang="en-US" altLang="zh-CN" b="1" dirty="0"/>
              <a:t>)</a:t>
            </a:r>
          </a:p>
          <a:p>
            <a:endParaRPr lang="en-US" altLang="zh-CN" b="1" dirty="0"/>
          </a:p>
          <a:p>
            <a:r>
              <a:rPr lang="zh-CN" altLang="en-US" dirty="0"/>
              <a:t>每次运算后，</a:t>
            </a:r>
            <a:r>
              <a:rPr lang="en-US" altLang="zh-CN" dirty="0"/>
              <a:t>ALU </a:t>
            </a:r>
            <a:r>
              <a:rPr lang="zh-CN" altLang="en-US" dirty="0"/>
              <a:t>会通过 </a:t>
            </a:r>
            <a:r>
              <a:rPr lang="en-US" altLang="zh-CN" dirty="0" err="1"/>
              <a:t>ZeroFlag</a:t>
            </a:r>
            <a:r>
              <a:rPr lang="en-US" altLang="zh-CN" dirty="0"/>
              <a:t> = ~(|DataOut)</a:t>
            </a:r>
            <a:r>
              <a:rPr lang="zh-CN" altLang="en-US" dirty="0"/>
              <a:t> 计算结果是否为 </a:t>
            </a:r>
            <a:r>
              <a:rPr lang="en-US" altLang="zh-CN" dirty="0"/>
              <a:t>0 </a:t>
            </a:r>
            <a:r>
              <a:rPr lang="zh-CN" altLang="en-US" dirty="0"/>
              <a:t>。这个信号会立刻传回 </a:t>
            </a:r>
            <a:r>
              <a:rPr lang="en-US" altLang="zh-CN" dirty="0" err="1"/>
              <a:t>ControlUnit</a:t>
            </a:r>
            <a:r>
              <a:rPr lang="zh-CN" altLang="en-US" dirty="0"/>
              <a:t>，作为 </a:t>
            </a:r>
            <a:r>
              <a:rPr lang="en-US" altLang="zh-CN" dirty="0"/>
              <a:t>BEQ</a:t>
            </a:r>
            <a:r>
              <a:rPr lang="zh-CN" altLang="en-US" dirty="0"/>
              <a:t>（相等跳转）或 </a:t>
            </a:r>
            <a:r>
              <a:rPr lang="en-US" altLang="zh-CN" dirty="0"/>
              <a:t>BNE</a:t>
            </a:r>
            <a:r>
              <a:rPr lang="zh-CN" altLang="en-US" dirty="0"/>
              <a:t>（不等跳转）的判断依据 。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D7BC35-3816-995C-DD5A-20EEA5801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585" y="343587"/>
            <a:ext cx="3771900" cy="37147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564412D-89A4-70EE-60B5-CC2C9B2E12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68" y="3429000"/>
            <a:ext cx="620077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75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C4ABA63-692D-5E0E-0114-FC889DA554DB}"/>
              </a:ext>
            </a:extLst>
          </p:cNvPr>
          <p:cNvSpPr txBox="1"/>
          <p:nvPr/>
        </p:nvSpPr>
        <p:spPr>
          <a:xfrm>
            <a:off x="893136" y="564169"/>
            <a:ext cx="9260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指令解析与寄存器堆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C0AB62-9EBE-8A30-2173-3DD458CEE53B}"/>
              </a:ext>
            </a:extLst>
          </p:cNvPr>
          <p:cNvSpPr txBox="1"/>
          <p:nvPr/>
        </p:nvSpPr>
        <p:spPr>
          <a:xfrm>
            <a:off x="893136" y="3062177"/>
            <a:ext cx="83359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IR (</a:t>
            </a:r>
            <a:r>
              <a:rPr lang="zh-CN" altLang="en-US" dirty="0"/>
              <a:t>指令寄存器</a:t>
            </a:r>
            <a:r>
              <a:rPr lang="en-US" altLang="zh-CN" dirty="0"/>
              <a:t>) </a:t>
            </a:r>
            <a:r>
              <a:rPr lang="zh-CN" altLang="en-US" dirty="0"/>
              <a:t>的锁存作用</a:t>
            </a:r>
          </a:p>
          <a:p>
            <a:endParaRPr lang="zh-CN" altLang="en-US" dirty="0"/>
          </a:p>
          <a:p>
            <a:r>
              <a:rPr lang="zh-CN" altLang="en-US" dirty="0"/>
              <a:t>指令保持：在取指状态下，从 </a:t>
            </a:r>
            <a:r>
              <a:rPr lang="en-US" altLang="zh-CN" dirty="0"/>
              <a:t>ROM </a:t>
            </a:r>
            <a:r>
              <a:rPr lang="zh-CN" altLang="en-US" dirty="0"/>
              <a:t>读出的指令被存入 </a:t>
            </a:r>
            <a:r>
              <a:rPr lang="en-US" altLang="zh-CN" dirty="0"/>
              <a:t>IR 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防止丢失：由于多周期 </a:t>
            </a:r>
            <a:r>
              <a:rPr lang="en-US" altLang="zh-CN" dirty="0"/>
              <a:t>CPU </a:t>
            </a:r>
            <a:r>
              <a:rPr lang="zh-CN" altLang="en-US" dirty="0"/>
              <a:t>在执行指令时，</a:t>
            </a:r>
            <a:r>
              <a:rPr lang="en-US" altLang="zh-CN" dirty="0" err="1"/>
              <a:t>nextPC</a:t>
            </a:r>
            <a:r>
              <a:rPr lang="en-US" altLang="zh-CN" dirty="0"/>
              <a:t> </a:t>
            </a:r>
            <a:r>
              <a:rPr lang="zh-CN" altLang="en-US" dirty="0"/>
              <a:t>可能会提前计算并准备好，导致 </a:t>
            </a:r>
            <a:r>
              <a:rPr lang="en-US" altLang="zh-CN" dirty="0"/>
              <a:t>ROM </a:t>
            </a:r>
            <a:r>
              <a:rPr lang="zh-CN" altLang="en-US" dirty="0"/>
              <a:t>的输出发生变化。</a:t>
            </a:r>
            <a:r>
              <a:rPr lang="en-US" altLang="zh-CN" dirty="0"/>
              <a:t>IR </a:t>
            </a:r>
            <a:r>
              <a:rPr lang="zh-CN" altLang="en-US" dirty="0"/>
              <a:t>通过 </a:t>
            </a:r>
            <a:r>
              <a:rPr lang="en-US" altLang="zh-CN" dirty="0" err="1"/>
              <a:t>IRWr</a:t>
            </a:r>
            <a:r>
              <a:rPr lang="en-US" altLang="zh-CN" dirty="0"/>
              <a:t> </a:t>
            </a:r>
            <a:r>
              <a:rPr lang="zh-CN" altLang="en-US" dirty="0"/>
              <a:t>信号控制，只在取指阶段更新，确保后续所有周期内指令解析结果（如 </a:t>
            </a:r>
            <a:r>
              <a:rPr lang="en-US" altLang="zh-CN" dirty="0"/>
              <a:t>op</a:t>
            </a:r>
            <a:r>
              <a:rPr lang="zh-CN" altLang="en-US" dirty="0"/>
              <a:t>、</a:t>
            </a:r>
            <a:r>
              <a:rPr lang="en-US" altLang="zh-CN" dirty="0" err="1"/>
              <a:t>rs</a:t>
            </a:r>
            <a:r>
              <a:rPr lang="en-US" altLang="zh-CN" dirty="0"/>
              <a:t> </a:t>
            </a:r>
            <a:r>
              <a:rPr lang="zh-CN" altLang="en-US" dirty="0"/>
              <a:t>等）保持绝对稳定 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13742D-BAB9-0295-33DF-53B072078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855" y="1292409"/>
            <a:ext cx="3819525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56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844311E-4506-1528-1FFC-63B4F45F9C08}"/>
              </a:ext>
            </a:extLst>
          </p:cNvPr>
          <p:cNvSpPr txBox="1"/>
          <p:nvPr/>
        </p:nvSpPr>
        <p:spPr>
          <a:xfrm>
            <a:off x="1828800" y="1329070"/>
            <a:ext cx="96756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InstSplit</a:t>
            </a:r>
            <a:r>
              <a:rPr lang="en-US" altLang="zh-CN" dirty="0"/>
              <a:t> (</a:t>
            </a:r>
            <a:r>
              <a:rPr lang="zh-CN" altLang="en-US" dirty="0"/>
              <a:t>指令切割</a:t>
            </a:r>
            <a:r>
              <a:rPr lang="en-US" altLang="zh-CN" dirty="0"/>
              <a:t>)</a:t>
            </a:r>
            <a:r>
              <a:rPr lang="zh-CN" altLang="en-US" dirty="0"/>
              <a:t>模块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并行解析：这是一个纯组合逻辑模块，一旦 </a:t>
            </a:r>
            <a:r>
              <a:rPr lang="en-US" altLang="zh-CN" dirty="0"/>
              <a:t>IR </a:t>
            </a:r>
            <a:r>
              <a:rPr lang="zh-CN" altLang="en-US" dirty="0"/>
              <a:t>输出指令，它立即将 </a:t>
            </a:r>
            <a:r>
              <a:rPr lang="en-US" altLang="zh-CN" dirty="0"/>
              <a:t>32 </a:t>
            </a:r>
            <a:r>
              <a:rPr lang="zh-CN" altLang="en-US" dirty="0"/>
              <a:t>位机器码拆解 ：</a:t>
            </a:r>
          </a:p>
          <a:p>
            <a:endParaRPr lang="zh-CN" altLang="en-US" dirty="0"/>
          </a:p>
          <a:p>
            <a:r>
              <a:rPr lang="en-US" altLang="zh-CN" dirty="0"/>
              <a:t>op (31:26): </a:t>
            </a:r>
            <a:r>
              <a:rPr lang="zh-CN" altLang="en-US" dirty="0"/>
              <a:t>操作码，决定指令类型 。</a:t>
            </a:r>
          </a:p>
          <a:p>
            <a:endParaRPr lang="zh-CN" altLang="en-US" dirty="0"/>
          </a:p>
          <a:p>
            <a:r>
              <a:rPr lang="en-US" altLang="zh-CN" dirty="0" err="1"/>
              <a:t>rs</a:t>
            </a:r>
            <a:r>
              <a:rPr lang="en-US" altLang="zh-CN" dirty="0"/>
              <a:t>, rt, </a:t>
            </a:r>
            <a:r>
              <a:rPr lang="en-US" altLang="zh-CN" dirty="0" err="1"/>
              <a:t>rd</a:t>
            </a:r>
            <a:r>
              <a:rPr lang="en-US" altLang="zh-CN" dirty="0"/>
              <a:t>: </a:t>
            </a:r>
            <a:r>
              <a:rPr lang="zh-CN" altLang="en-US" dirty="0"/>
              <a:t>源寄存器和目标寄存器索引 。</a:t>
            </a:r>
          </a:p>
          <a:p>
            <a:endParaRPr lang="zh-CN" altLang="en-US" dirty="0"/>
          </a:p>
          <a:p>
            <a:r>
              <a:rPr lang="en-US" altLang="zh-CN" dirty="0"/>
              <a:t>imm16: 16 </a:t>
            </a:r>
            <a:r>
              <a:rPr lang="zh-CN" altLang="en-US" dirty="0"/>
              <a:t>位立即数，用于 </a:t>
            </a:r>
            <a:r>
              <a:rPr lang="en-US" altLang="zh-CN" dirty="0"/>
              <a:t>I </a:t>
            </a:r>
            <a:r>
              <a:rPr lang="zh-CN" altLang="en-US" dirty="0"/>
              <a:t>型指令 。</a:t>
            </a:r>
          </a:p>
          <a:p>
            <a:endParaRPr lang="zh-CN" altLang="en-US" dirty="0"/>
          </a:p>
          <a:p>
            <a:r>
              <a:rPr lang="en-US" altLang="zh-CN" dirty="0" err="1"/>
              <a:t>sa</a:t>
            </a:r>
            <a:r>
              <a:rPr lang="en-US" altLang="zh-CN" dirty="0"/>
              <a:t>: </a:t>
            </a:r>
            <a:r>
              <a:rPr lang="zh-CN" altLang="en-US" dirty="0"/>
              <a:t>移位量，用于 </a:t>
            </a:r>
            <a:r>
              <a:rPr lang="en-US" altLang="zh-CN" dirty="0"/>
              <a:t>SLL</a:t>
            </a:r>
            <a:r>
              <a:rPr lang="zh-CN" altLang="en-US" dirty="0"/>
              <a:t>、</a:t>
            </a:r>
            <a:r>
              <a:rPr lang="en-US" altLang="zh-CN" dirty="0"/>
              <a:t>SRL </a:t>
            </a:r>
            <a:r>
              <a:rPr lang="zh-CN" altLang="en-US" dirty="0"/>
              <a:t>等移位指令 。</a:t>
            </a:r>
          </a:p>
        </p:txBody>
      </p:sp>
    </p:spTree>
    <p:extLst>
      <p:ext uri="{BB962C8B-B14F-4D97-AF65-F5344CB8AC3E}">
        <p14:creationId xmlns:p14="http://schemas.microsoft.com/office/powerpoint/2010/main" val="157741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57D88FA-775E-2D31-96D8-5B0E49053AD0}"/>
              </a:ext>
            </a:extLst>
          </p:cNvPr>
          <p:cNvSpPr txBox="1"/>
          <p:nvPr/>
        </p:nvSpPr>
        <p:spPr>
          <a:xfrm>
            <a:off x="733647" y="1012954"/>
            <a:ext cx="913336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RegFile</a:t>
            </a:r>
            <a:r>
              <a:rPr lang="en-US" altLang="zh-CN" dirty="0"/>
              <a:t> (</a:t>
            </a:r>
            <a:r>
              <a:rPr lang="zh-CN" altLang="en-US" dirty="0"/>
              <a:t>寄存器堆</a:t>
            </a:r>
            <a:r>
              <a:rPr lang="en-US" altLang="zh-CN" dirty="0"/>
              <a:t>)</a:t>
            </a:r>
          </a:p>
          <a:p>
            <a:endParaRPr lang="en-US" altLang="zh-CN" sz="1600" dirty="0"/>
          </a:p>
          <a:p>
            <a:r>
              <a:rPr lang="zh-CN" altLang="en-US" sz="1600" dirty="0"/>
              <a:t>双读单写：支持同时读出两个寄存器（</a:t>
            </a:r>
            <a:r>
              <a:rPr lang="en-US" altLang="zh-CN" sz="1600" dirty="0"/>
              <a:t>Da </a:t>
            </a:r>
            <a:r>
              <a:rPr lang="zh-CN" altLang="en-US" sz="1600" dirty="0"/>
              <a:t>和 </a:t>
            </a:r>
            <a:r>
              <a:rPr lang="en-US" altLang="zh-CN" sz="1600" dirty="0"/>
              <a:t>Db</a:t>
            </a:r>
            <a:r>
              <a:rPr lang="zh-CN" altLang="en-US" sz="1600" dirty="0"/>
              <a:t>），并能在</a:t>
            </a:r>
            <a:endParaRPr lang="en-US" altLang="zh-CN" sz="1600" dirty="0"/>
          </a:p>
          <a:p>
            <a:r>
              <a:rPr lang="zh-CN" altLang="en-US" sz="1600" dirty="0"/>
              <a:t>一个时钟周期内</a:t>
            </a:r>
            <a:endParaRPr lang="en-US" altLang="zh-CN" sz="1600" dirty="0"/>
          </a:p>
          <a:p>
            <a:r>
              <a:rPr lang="zh-CN" altLang="en-US" sz="1600" dirty="0"/>
              <a:t>写入一个寄存器 。</a:t>
            </a:r>
          </a:p>
          <a:p>
            <a:endParaRPr lang="zh-CN" altLang="en-US" sz="1600" dirty="0"/>
          </a:p>
          <a:p>
            <a:r>
              <a:rPr lang="zh-CN" altLang="en-US" sz="1600" dirty="0"/>
              <a:t>写入目标选择 </a:t>
            </a:r>
            <a:r>
              <a:rPr lang="en-US" altLang="zh-CN" sz="1600" dirty="0"/>
              <a:t>(</a:t>
            </a:r>
            <a:r>
              <a:rPr lang="en-US" altLang="zh-CN" sz="1600" dirty="0" err="1"/>
              <a:t>RegDst</a:t>
            </a:r>
            <a:r>
              <a:rPr lang="en-US" altLang="zh-CN" sz="1600" dirty="0"/>
              <a:t>)</a:t>
            </a:r>
            <a:r>
              <a:rPr lang="zh-CN" altLang="en-US" sz="1600" dirty="0"/>
              <a:t>：</a:t>
            </a:r>
          </a:p>
          <a:p>
            <a:endParaRPr lang="zh-CN" altLang="en-US" sz="1600" dirty="0"/>
          </a:p>
          <a:p>
            <a:r>
              <a:rPr lang="en-US" altLang="zh-CN" sz="1600" dirty="0"/>
              <a:t>2‘b00: </a:t>
            </a:r>
            <a:r>
              <a:rPr lang="zh-CN" altLang="en-US" sz="1600" dirty="0"/>
              <a:t>写入 </a:t>
            </a:r>
            <a:r>
              <a:rPr lang="en-US" altLang="zh-CN" sz="1600" dirty="0"/>
              <a:t>31</a:t>
            </a:r>
            <a:r>
              <a:rPr lang="zh-CN" altLang="en-US" sz="1600" dirty="0"/>
              <a:t>号寄存器，用于 跳转指令</a:t>
            </a:r>
            <a:r>
              <a:rPr lang="en-US" altLang="zh-CN" sz="1600" dirty="0"/>
              <a:t> </a:t>
            </a:r>
            <a:r>
              <a:rPr lang="zh-CN" altLang="en-US" sz="1600" dirty="0"/>
              <a:t>。</a:t>
            </a:r>
          </a:p>
          <a:p>
            <a:endParaRPr lang="zh-CN" altLang="en-US" sz="1600" dirty="0"/>
          </a:p>
          <a:p>
            <a:endParaRPr lang="zh-CN" altLang="en-US" sz="1600" dirty="0"/>
          </a:p>
          <a:p>
            <a:r>
              <a:rPr lang="en-US" altLang="zh-CN" sz="1600" dirty="0"/>
              <a:t>2‘b01: </a:t>
            </a:r>
            <a:r>
              <a:rPr lang="zh-CN" altLang="en-US" sz="1600" dirty="0"/>
              <a:t>写入 </a:t>
            </a:r>
            <a:r>
              <a:rPr lang="en-US" altLang="zh-CN" sz="1600" dirty="0"/>
              <a:t>rt</a:t>
            </a:r>
            <a:r>
              <a:rPr lang="zh-CN" altLang="en-US" sz="1600" dirty="0"/>
              <a:t>，用于字加载或立即数运算 。</a:t>
            </a:r>
          </a:p>
          <a:p>
            <a:endParaRPr lang="zh-CN" altLang="en-US" sz="1600" dirty="0"/>
          </a:p>
          <a:p>
            <a:endParaRPr lang="zh-CN" altLang="en-US" sz="1600" dirty="0"/>
          </a:p>
          <a:p>
            <a:r>
              <a:rPr lang="en-US" altLang="zh-CN" sz="1600" dirty="0"/>
              <a:t>2'b10: </a:t>
            </a:r>
            <a:r>
              <a:rPr lang="zh-CN" altLang="en-US" sz="1600" dirty="0"/>
              <a:t>写入 </a:t>
            </a:r>
            <a:r>
              <a:rPr lang="en-US" altLang="zh-CN" sz="1600" dirty="0" err="1"/>
              <a:t>rd</a:t>
            </a:r>
            <a:r>
              <a:rPr lang="zh-CN" altLang="en-US" sz="1600" dirty="0"/>
              <a:t>，用于 </a:t>
            </a:r>
            <a:r>
              <a:rPr lang="en-US" altLang="zh-CN" sz="1600" dirty="0"/>
              <a:t>R </a:t>
            </a:r>
            <a:r>
              <a:rPr lang="zh-CN" altLang="en-US" sz="1600" dirty="0"/>
              <a:t>型运算指令 。</a:t>
            </a:r>
          </a:p>
          <a:p>
            <a:endParaRPr lang="zh-CN" altLang="en-US" sz="1600" dirty="0"/>
          </a:p>
          <a:p>
            <a:endParaRPr lang="zh-CN" altLang="en-US" sz="1600" dirty="0"/>
          </a:p>
          <a:p>
            <a:r>
              <a:rPr lang="zh-CN" altLang="en-US" sz="1600" dirty="0"/>
              <a:t>零号寄存器保护：代码中强制规定 </a:t>
            </a:r>
            <a:r>
              <a:rPr lang="en-US" altLang="zh-CN" sz="1600" dirty="0" err="1"/>
              <a:t>Rw</a:t>
            </a:r>
            <a:r>
              <a:rPr lang="en-US" altLang="zh-CN" sz="1600" dirty="0"/>
              <a:t> != 5'd0 </a:t>
            </a:r>
            <a:r>
              <a:rPr lang="zh-CN" altLang="en-US" sz="1600" dirty="0"/>
              <a:t>才能写入，确保 </a:t>
            </a:r>
            <a:r>
              <a:rPr lang="en-US" altLang="zh-CN" sz="1600" dirty="0"/>
              <a:t>$zero </a:t>
            </a:r>
            <a:r>
              <a:rPr lang="zh-CN" altLang="en-US" sz="1600" dirty="0"/>
              <a:t>寄存器始终为 </a:t>
            </a:r>
            <a:r>
              <a:rPr lang="en-US" altLang="zh-CN" sz="1600" dirty="0"/>
              <a:t>0 </a:t>
            </a:r>
            <a:r>
              <a:rPr lang="zh-CN" altLang="en-US" sz="1600" dirty="0"/>
              <a:t>。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7547DF-80F4-0E95-2587-DC5BADCDF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666" y="1222743"/>
            <a:ext cx="443865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68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C7628DC-2AEF-D9D1-7DBA-AC6C4CEFA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134" y="1441491"/>
            <a:ext cx="9210433" cy="34527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E09FC65-8067-64C6-DDFC-E71B8EEAB5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9675" y="2121975"/>
            <a:ext cx="3362325" cy="24288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72641C8-0E31-AA0A-8ACB-156132ADFDF8}"/>
              </a:ext>
            </a:extLst>
          </p:cNvPr>
          <p:cNvSpPr txBox="1"/>
          <p:nvPr/>
        </p:nvSpPr>
        <p:spPr>
          <a:xfrm>
            <a:off x="893134" y="815533"/>
            <a:ext cx="6103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延时寄存器模块（</a:t>
            </a:r>
            <a:r>
              <a:rPr lang="en-US" altLang="zh-CN" dirty="0" err="1"/>
              <a:t>DelayReg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723205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321E824-1D5E-9547-8684-D1AF6F68D9C5}"/>
              </a:ext>
            </a:extLst>
          </p:cNvPr>
          <p:cNvSpPr txBox="1"/>
          <p:nvPr/>
        </p:nvSpPr>
        <p:spPr>
          <a:xfrm>
            <a:off x="1105785" y="1127051"/>
            <a:ext cx="671977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工作原理</a:t>
            </a:r>
            <a:endParaRPr lang="en-US" altLang="zh-CN" sz="1600" dirty="0"/>
          </a:p>
          <a:p>
            <a:endParaRPr lang="zh-CN" altLang="en-US" sz="1600" dirty="0"/>
          </a:p>
          <a:p>
            <a:r>
              <a:rPr lang="zh-CN" altLang="en-US" sz="1600" dirty="0"/>
              <a:t>时序触发：仅在</a:t>
            </a:r>
            <a:r>
              <a:rPr lang="zh-CN" altLang="en-US" sz="1600" b="1" dirty="0"/>
              <a:t>时钟下降沿</a:t>
            </a:r>
            <a:r>
              <a:rPr lang="zh-CN" altLang="en-US" sz="1600" dirty="0"/>
              <a:t>（</a:t>
            </a:r>
            <a:r>
              <a:rPr lang="en-US" altLang="zh-CN" sz="1600" dirty="0" err="1"/>
              <a:t>negedge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clk</a:t>
            </a:r>
            <a:r>
              <a:rPr lang="zh-CN" altLang="en-US" sz="1600" dirty="0"/>
              <a:t>）执行数据更新，上升沿时输出保持不变。</a:t>
            </a:r>
          </a:p>
          <a:p>
            <a:r>
              <a:rPr lang="zh-CN" altLang="en-US" sz="1600" dirty="0"/>
              <a:t>延迟功能：当前时钟周期的</a:t>
            </a:r>
            <a:r>
              <a:rPr lang="en-US" altLang="zh-CN" sz="1600" dirty="0" err="1"/>
              <a:t>IData</a:t>
            </a:r>
            <a:r>
              <a:rPr lang="zh-CN" altLang="en-US" sz="1600" dirty="0"/>
              <a:t>，会在时钟下降沿被锁存到</a:t>
            </a:r>
            <a:r>
              <a:rPr lang="en-US" altLang="zh-CN" sz="1600" dirty="0"/>
              <a:t>OData</a:t>
            </a:r>
            <a:r>
              <a:rPr lang="zh-CN" altLang="en-US" sz="1600" dirty="0"/>
              <a:t>，下一个时钟周期</a:t>
            </a:r>
            <a:r>
              <a:rPr lang="en-US" altLang="zh-CN" sz="1600" dirty="0"/>
              <a:t>OData</a:t>
            </a:r>
            <a:r>
              <a:rPr lang="zh-CN" altLang="en-US" sz="1600" dirty="0"/>
              <a:t>才对外输出该数据，实现 “输入→延迟 </a:t>
            </a:r>
            <a:r>
              <a:rPr lang="en-US" altLang="zh-CN" sz="1600" dirty="0"/>
              <a:t>1 </a:t>
            </a:r>
            <a:r>
              <a:rPr lang="zh-CN" altLang="en-US" sz="1600" dirty="0"/>
              <a:t>周期→输出”。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2936FE-0C57-5097-34D3-EF0FFFB1F35E}"/>
              </a:ext>
            </a:extLst>
          </p:cNvPr>
          <p:cNvSpPr txBox="1"/>
          <p:nvPr/>
        </p:nvSpPr>
        <p:spPr>
          <a:xfrm>
            <a:off x="1105785" y="3223383"/>
            <a:ext cx="876122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应用举例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ADR</a:t>
            </a:r>
            <a:r>
              <a:rPr lang="zh-CN" altLang="en-US" sz="1600" dirty="0"/>
              <a:t>（寄存器 </a:t>
            </a:r>
            <a:r>
              <a:rPr lang="en-US" altLang="zh-CN" sz="1600" dirty="0"/>
              <a:t>A </a:t>
            </a:r>
            <a:r>
              <a:rPr lang="zh-CN" altLang="en-US" sz="1600" dirty="0"/>
              <a:t>延迟器）：</a:t>
            </a:r>
            <a:r>
              <a:rPr lang="en-US" altLang="zh-CN" sz="1600" dirty="0" err="1"/>
              <a:t>RegFile→ALU</a:t>
            </a:r>
            <a:r>
              <a:rPr lang="en-US" altLang="zh-CN" sz="1600" dirty="0"/>
              <a:t> </a:t>
            </a:r>
            <a:r>
              <a:rPr lang="zh-CN" altLang="en-US" sz="1600" dirty="0"/>
              <a:t>的操作数同步</a:t>
            </a:r>
          </a:p>
          <a:p>
            <a:r>
              <a:rPr lang="zh-CN" altLang="en-US" sz="1600" dirty="0"/>
              <a:t>连接关系：</a:t>
            </a:r>
            <a:r>
              <a:rPr lang="en-US" altLang="zh-CN" sz="1600" dirty="0" err="1"/>
              <a:t>RegFile</a:t>
            </a:r>
            <a:r>
              <a:rPr lang="zh-CN" altLang="en-US" sz="1600" dirty="0"/>
              <a:t>的</a:t>
            </a:r>
            <a:r>
              <a:rPr lang="en-US" altLang="zh-CN" sz="1600" dirty="0"/>
              <a:t>Da</a:t>
            </a:r>
            <a:r>
              <a:rPr lang="zh-CN" altLang="en-US" sz="1600" dirty="0"/>
              <a:t>端口（</a:t>
            </a:r>
            <a:r>
              <a:rPr lang="en-US" altLang="zh-CN" sz="1600" dirty="0"/>
              <a:t>ID</a:t>
            </a:r>
            <a:r>
              <a:rPr lang="zh-CN" altLang="en-US" sz="1600" dirty="0"/>
              <a:t>阶段读出的</a:t>
            </a:r>
            <a:r>
              <a:rPr lang="en-US" altLang="zh-CN" sz="1600" dirty="0" err="1"/>
              <a:t>rs</a:t>
            </a:r>
            <a:r>
              <a:rPr lang="zh-CN" altLang="en-US" sz="1600" dirty="0"/>
              <a:t>寄存器数据）→</a:t>
            </a:r>
            <a:r>
              <a:rPr lang="en-US" altLang="zh-CN" sz="1600" dirty="0"/>
              <a:t>ADR</a:t>
            </a:r>
            <a:r>
              <a:rPr lang="zh-CN" altLang="en-US" sz="1600" dirty="0"/>
              <a:t>的</a:t>
            </a:r>
            <a:r>
              <a:rPr lang="en-US" altLang="zh-CN" sz="1600" dirty="0" err="1"/>
              <a:t>IData→ADR</a:t>
            </a:r>
            <a:r>
              <a:rPr lang="zh-CN" altLang="en-US" sz="1600" dirty="0"/>
              <a:t>的</a:t>
            </a:r>
            <a:r>
              <a:rPr lang="en-US" altLang="zh-CN" sz="1600" dirty="0"/>
              <a:t>OData</a:t>
            </a:r>
            <a:r>
              <a:rPr lang="zh-CN" altLang="en-US" sz="1600" dirty="0"/>
              <a:t>（</a:t>
            </a:r>
            <a:r>
              <a:rPr lang="en-US" altLang="zh-CN" sz="1600" dirty="0" err="1"/>
              <a:t>dataA</a:t>
            </a:r>
            <a:r>
              <a:rPr lang="zh-CN" altLang="en-US" sz="1600" dirty="0"/>
              <a:t>）→</a:t>
            </a:r>
            <a:r>
              <a:rPr lang="en-US" altLang="zh-CN" sz="1600" dirty="0"/>
              <a:t>ALU</a:t>
            </a:r>
            <a:r>
              <a:rPr lang="zh-CN" altLang="en-US" sz="1600" dirty="0"/>
              <a:t>的</a:t>
            </a:r>
            <a:r>
              <a:rPr lang="en-US" altLang="zh-CN" sz="1600" dirty="0" err="1"/>
              <a:t>DataInA</a:t>
            </a:r>
            <a:r>
              <a:rPr lang="zh-CN" altLang="en-US" sz="1600" dirty="0"/>
              <a:t>端口（执行阶段输入）</a:t>
            </a:r>
          </a:p>
          <a:p>
            <a:r>
              <a:rPr lang="zh-CN" altLang="en-US" sz="1600" dirty="0"/>
              <a:t>时序对齐逻辑：</a:t>
            </a:r>
          </a:p>
          <a:p>
            <a:r>
              <a:rPr lang="en-US" altLang="zh-CN" sz="1600" dirty="0" err="1"/>
              <a:t>RegFile</a:t>
            </a:r>
            <a:r>
              <a:rPr lang="en-US" altLang="zh-CN" sz="1600" dirty="0"/>
              <a:t> </a:t>
            </a:r>
            <a:r>
              <a:rPr lang="zh-CN" altLang="en-US" sz="1600" dirty="0"/>
              <a:t>在译码阶段（</a:t>
            </a:r>
            <a:r>
              <a:rPr lang="en-US" altLang="zh-CN" sz="1600" dirty="0"/>
              <a:t>state=</a:t>
            </a:r>
            <a:r>
              <a:rPr lang="en-US" altLang="zh-CN" sz="1600" dirty="0" err="1"/>
              <a:t>sID</a:t>
            </a:r>
            <a:r>
              <a:rPr lang="zh-CN" altLang="en-US" sz="1600" dirty="0"/>
              <a:t>）根据 </a:t>
            </a:r>
            <a:r>
              <a:rPr lang="en-US" altLang="zh-CN" sz="1600" dirty="0" err="1"/>
              <a:t>rs</a:t>
            </a:r>
            <a:r>
              <a:rPr lang="en-US" altLang="zh-CN" sz="1600" dirty="0"/>
              <a:t> </a:t>
            </a:r>
            <a:r>
              <a:rPr lang="zh-CN" altLang="en-US" sz="1600" dirty="0"/>
              <a:t>地址读出数据 </a:t>
            </a:r>
            <a:r>
              <a:rPr lang="en-US" altLang="zh-CN" sz="1600" dirty="0"/>
              <a:t>Da</a:t>
            </a:r>
            <a:r>
              <a:rPr lang="zh-CN" altLang="en-US" sz="1600" dirty="0"/>
              <a:t>，此时数据仅在 </a:t>
            </a:r>
            <a:r>
              <a:rPr lang="en-US" altLang="zh-CN" sz="1600" dirty="0"/>
              <a:t>ID </a:t>
            </a:r>
            <a:r>
              <a:rPr lang="zh-CN" altLang="en-US" sz="1600" dirty="0"/>
              <a:t>阶段有效。</a:t>
            </a:r>
          </a:p>
          <a:p>
            <a:r>
              <a:rPr lang="en-US" altLang="zh-CN" sz="1600" dirty="0"/>
              <a:t>ALU </a:t>
            </a:r>
            <a:r>
              <a:rPr lang="zh-CN" altLang="en-US" sz="1600" dirty="0"/>
              <a:t>在执行阶段（</a:t>
            </a:r>
            <a:r>
              <a:rPr lang="en-US" altLang="zh-CN" sz="1600" dirty="0"/>
              <a:t>state=</a:t>
            </a:r>
            <a:r>
              <a:rPr lang="en-US" altLang="zh-CN" sz="1600" dirty="0" err="1"/>
              <a:t>sEXE</a:t>
            </a:r>
            <a:r>
              <a:rPr lang="zh-CN" altLang="en-US" sz="1600" dirty="0"/>
              <a:t>）才需要操作数，</a:t>
            </a:r>
            <a:r>
              <a:rPr lang="en-US" altLang="zh-CN" sz="1600" dirty="0"/>
              <a:t>ADR </a:t>
            </a:r>
            <a:r>
              <a:rPr lang="zh-CN" altLang="en-US" sz="1600" dirty="0"/>
              <a:t>在时钟下降沿锁存 </a:t>
            </a:r>
            <a:r>
              <a:rPr lang="en-US" altLang="zh-CN" sz="1600" dirty="0"/>
              <a:t>Da</a:t>
            </a:r>
            <a:r>
              <a:rPr lang="zh-CN" altLang="en-US" sz="1600" dirty="0"/>
              <a:t>，延迟 </a:t>
            </a:r>
            <a:r>
              <a:rPr lang="en-US" altLang="zh-CN" sz="1600" dirty="0"/>
              <a:t>1 </a:t>
            </a:r>
            <a:r>
              <a:rPr lang="zh-CN" altLang="en-US" sz="1600" dirty="0"/>
              <a:t>个时钟周期输出 </a:t>
            </a:r>
            <a:r>
              <a:rPr lang="en-US" altLang="zh-CN" sz="1600" dirty="0" err="1"/>
              <a:t>dataA</a:t>
            </a:r>
            <a:r>
              <a:rPr lang="zh-CN" altLang="en-US" sz="1600" dirty="0"/>
              <a:t>，刚好匹配 </a:t>
            </a:r>
            <a:r>
              <a:rPr lang="en-US" altLang="zh-CN" sz="1600" dirty="0"/>
              <a:t>ALU </a:t>
            </a:r>
            <a:r>
              <a:rPr lang="zh-CN" altLang="en-US" sz="1600" dirty="0"/>
              <a:t>的运算时序。</a:t>
            </a:r>
          </a:p>
          <a:p>
            <a:r>
              <a:rPr lang="zh-CN" altLang="en-US" sz="1600" dirty="0"/>
              <a:t>核心作用：解决 </a:t>
            </a:r>
            <a:r>
              <a:rPr lang="en-US" altLang="zh-CN" sz="1600" dirty="0"/>
              <a:t>ID </a:t>
            </a:r>
            <a:r>
              <a:rPr lang="zh-CN" altLang="en-US" sz="1600" dirty="0"/>
              <a:t>阶段读寄存器与 </a:t>
            </a:r>
            <a:r>
              <a:rPr lang="en-US" altLang="zh-CN" sz="1600" dirty="0"/>
              <a:t>EXE </a:t>
            </a:r>
            <a:r>
              <a:rPr lang="zh-CN" altLang="en-US" sz="1600" dirty="0"/>
              <a:t>阶段 </a:t>
            </a:r>
            <a:r>
              <a:rPr lang="en-US" altLang="zh-CN" sz="1600" dirty="0"/>
              <a:t>ALU </a:t>
            </a:r>
            <a:r>
              <a:rPr lang="zh-CN" altLang="en-US" sz="1600" dirty="0"/>
              <a:t>运算的 “跨阶段数据不同步” 问题，确保 </a:t>
            </a:r>
            <a:r>
              <a:rPr lang="en-US" altLang="zh-CN" sz="1600" dirty="0"/>
              <a:t>ALU </a:t>
            </a:r>
            <a:r>
              <a:rPr lang="zh-CN" altLang="en-US" sz="1600"/>
              <a:t>在执行阶段</a:t>
            </a:r>
            <a:r>
              <a:rPr lang="zh-CN" altLang="en-US" sz="1600" dirty="0"/>
              <a:t>拿到的是稳定、有效的 </a:t>
            </a:r>
            <a:r>
              <a:rPr lang="en-US" altLang="zh-CN" sz="1600" dirty="0" err="1"/>
              <a:t>rs</a:t>
            </a:r>
            <a:r>
              <a:rPr lang="en-US" altLang="zh-CN" sz="1600" dirty="0"/>
              <a:t> </a:t>
            </a:r>
            <a:r>
              <a:rPr lang="zh-CN" altLang="en-US" sz="1600" dirty="0"/>
              <a:t>端口数据。</a:t>
            </a:r>
          </a:p>
        </p:txBody>
      </p:sp>
    </p:spTree>
    <p:extLst>
      <p:ext uri="{BB962C8B-B14F-4D97-AF65-F5344CB8AC3E}">
        <p14:creationId xmlns:p14="http://schemas.microsoft.com/office/powerpoint/2010/main" val="790501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B9931A1-C28D-90CE-CF31-CE11B0398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0814"/>
            <a:ext cx="12192000" cy="475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478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10765D1-7D52-E890-5D6A-97573ABBE5C9}"/>
              </a:ext>
            </a:extLst>
          </p:cNvPr>
          <p:cNvSpPr txBox="1"/>
          <p:nvPr/>
        </p:nvSpPr>
        <p:spPr>
          <a:xfrm>
            <a:off x="1231604" y="1488558"/>
            <a:ext cx="972879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ADDI</a:t>
            </a:r>
            <a:r>
              <a:rPr lang="zh-CN" altLang="en-US" dirty="0"/>
              <a:t>（立即数加法，</a:t>
            </a:r>
            <a:r>
              <a:rPr lang="en-US" altLang="zh-CN" dirty="0"/>
              <a:t>op=6'b001000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取指（</a:t>
            </a:r>
            <a:r>
              <a:rPr lang="en-US" altLang="zh-CN" dirty="0" err="1"/>
              <a:t>sIF</a:t>
            </a:r>
            <a:r>
              <a:rPr lang="zh-CN" altLang="en-US" dirty="0"/>
              <a:t>）：</a:t>
            </a:r>
            <a:r>
              <a:rPr lang="en-US" altLang="zh-CN" dirty="0" err="1"/>
              <a:t>ControlUnit</a:t>
            </a:r>
            <a:r>
              <a:rPr lang="en-US" altLang="zh-CN" dirty="0"/>
              <a:t> </a:t>
            </a:r>
            <a:r>
              <a:rPr lang="zh-CN" altLang="en-US" dirty="0"/>
              <a:t>输出 </a:t>
            </a:r>
            <a:r>
              <a:rPr lang="en-US" altLang="zh-CN" dirty="0" err="1"/>
              <a:t>IsRd</a:t>
            </a:r>
            <a:r>
              <a:rPr lang="en-US" altLang="zh-CN" dirty="0"/>
              <a:t>=1</a:t>
            </a:r>
            <a:r>
              <a:rPr lang="zh-CN" altLang="en-US" dirty="0"/>
              <a:t>、</a:t>
            </a:r>
            <a:r>
              <a:rPr lang="en-US" altLang="zh-CN" dirty="0" err="1"/>
              <a:t>PCWr</a:t>
            </a:r>
            <a:r>
              <a:rPr lang="en-US" altLang="zh-CN" dirty="0"/>
              <a:t>=1</a:t>
            </a:r>
            <a:r>
              <a:rPr lang="zh-CN" altLang="en-US" dirty="0"/>
              <a:t>，</a:t>
            </a:r>
            <a:r>
              <a:rPr lang="en-US" altLang="zh-CN" dirty="0"/>
              <a:t>ROM </a:t>
            </a:r>
            <a:r>
              <a:rPr lang="zh-CN" altLang="en-US" dirty="0"/>
              <a:t>按 </a:t>
            </a:r>
            <a:r>
              <a:rPr lang="en-US" altLang="zh-CN" dirty="0" err="1"/>
              <a:t>curPC</a:t>
            </a:r>
            <a:r>
              <a:rPr lang="en-US" altLang="zh-CN" dirty="0"/>
              <a:t> </a:t>
            </a:r>
            <a:r>
              <a:rPr lang="zh-CN" altLang="en-US" dirty="0"/>
              <a:t>地址读出指令，</a:t>
            </a:r>
            <a:r>
              <a:rPr lang="en-US" altLang="zh-CN" dirty="0"/>
              <a:t>IR </a:t>
            </a:r>
            <a:r>
              <a:rPr lang="zh-CN" altLang="en-US" dirty="0"/>
              <a:t>在 </a:t>
            </a:r>
            <a:r>
              <a:rPr lang="en-US" altLang="zh-CN" dirty="0" err="1"/>
              <a:t>IRWr</a:t>
            </a:r>
            <a:r>
              <a:rPr lang="en-US" altLang="zh-CN" dirty="0"/>
              <a:t>=1 </a:t>
            </a:r>
            <a:r>
              <a:rPr lang="zh-CN" altLang="en-US" dirty="0"/>
              <a:t>控制下锁存该指令（</a:t>
            </a:r>
            <a:r>
              <a:rPr lang="en-US" altLang="zh-CN" dirty="0" err="1"/>
              <a:t>IRinst</a:t>
            </a:r>
            <a:r>
              <a:rPr lang="zh-CN" altLang="en-US" dirty="0"/>
              <a:t>）；</a:t>
            </a:r>
            <a:r>
              <a:rPr lang="en-US" altLang="zh-CN" dirty="0" err="1"/>
              <a:t>PC_next</a:t>
            </a:r>
            <a:r>
              <a:rPr lang="en-US" altLang="zh-CN" dirty="0"/>
              <a:t> </a:t>
            </a:r>
            <a:r>
              <a:rPr lang="zh-CN" altLang="en-US" dirty="0"/>
              <a:t>生成 </a:t>
            </a:r>
            <a:r>
              <a:rPr lang="en-US" altLang="zh-CN" dirty="0" err="1"/>
              <a:t>nextPC</a:t>
            </a:r>
            <a:r>
              <a:rPr lang="en-US" altLang="zh-CN" dirty="0"/>
              <a:t>=curPC+4</a:t>
            </a:r>
            <a:r>
              <a:rPr lang="zh-CN" altLang="en-US" dirty="0"/>
              <a:t>，</a:t>
            </a:r>
            <a:r>
              <a:rPr lang="en-US" altLang="zh-CN" dirty="0"/>
              <a:t>PC </a:t>
            </a:r>
            <a:r>
              <a:rPr lang="zh-CN" altLang="en-US" dirty="0"/>
              <a:t>在时钟下降沿更新为 </a:t>
            </a:r>
            <a:r>
              <a:rPr lang="en-US" altLang="zh-CN" dirty="0" err="1"/>
              <a:t>nextPC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译码（</a:t>
            </a:r>
            <a:r>
              <a:rPr lang="en-US" altLang="zh-CN" dirty="0" err="1"/>
              <a:t>sID</a:t>
            </a:r>
            <a:r>
              <a:rPr lang="zh-CN" altLang="en-US" dirty="0"/>
              <a:t>）：</a:t>
            </a:r>
            <a:r>
              <a:rPr lang="en-US" altLang="zh-CN" dirty="0" err="1"/>
              <a:t>InstSplit</a:t>
            </a:r>
            <a:r>
              <a:rPr lang="en-US" altLang="zh-CN" dirty="0"/>
              <a:t> </a:t>
            </a:r>
            <a:r>
              <a:rPr lang="zh-CN" altLang="en-US" dirty="0"/>
              <a:t>拆分 </a:t>
            </a:r>
            <a:r>
              <a:rPr lang="en-US" altLang="zh-CN" dirty="0" err="1"/>
              <a:t>IRinst</a:t>
            </a:r>
            <a:r>
              <a:rPr lang="en-US" altLang="zh-CN" dirty="0"/>
              <a:t> </a:t>
            </a:r>
            <a:r>
              <a:rPr lang="zh-CN" altLang="en-US" dirty="0"/>
              <a:t>得到 </a:t>
            </a:r>
            <a:r>
              <a:rPr lang="en-US" altLang="zh-CN" dirty="0"/>
              <a:t>op=6'b001000</a:t>
            </a:r>
            <a:r>
              <a:rPr lang="zh-CN" altLang="en-US" dirty="0"/>
              <a:t>、</a:t>
            </a:r>
            <a:r>
              <a:rPr lang="en-US" altLang="zh-CN" dirty="0" err="1"/>
              <a:t>rs</a:t>
            </a:r>
            <a:r>
              <a:rPr lang="zh-CN" altLang="en-US" dirty="0"/>
              <a:t>、</a:t>
            </a:r>
            <a:r>
              <a:rPr lang="en-US" altLang="zh-CN" dirty="0"/>
              <a:t>rt</a:t>
            </a:r>
            <a:r>
              <a:rPr lang="zh-CN" altLang="en-US" dirty="0"/>
              <a:t>；</a:t>
            </a:r>
            <a:r>
              <a:rPr lang="en-US" altLang="zh-CN" dirty="0" err="1"/>
              <a:t>ControlUnit</a:t>
            </a:r>
            <a:r>
              <a:rPr lang="en-US" altLang="zh-CN" dirty="0"/>
              <a:t> </a:t>
            </a:r>
            <a:r>
              <a:rPr lang="zh-CN" altLang="en-US" dirty="0"/>
              <a:t>输出 </a:t>
            </a:r>
            <a:r>
              <a:rPr lang="en-US" altLang="zh-CN" dirty="0" err="1"/>
              <a:t>ExtType</a:t>
            </a:r>
            <a:r>
              <a:rPr lang="en-US" altLang="zh-CN" dirty="0"/>
              <a:t>=1</a:t>
            </a:r>
            <a:r>
              <a:rPr lang="zh-CN" altLang="en-US" dirty="0"/>
              <a:t>（符号扩展）、</a:t>
            </a:r>
            <a:r>
              <a:rPr lang="en-US" altLang="zh-CN" dirty="0" err="1"/>
              <a:t>ALUSrcB</a:t>
            </a:r>
            <a:r>
              <a:rPr lang="en-US" altLang="zh-CN" dirty="0"/>
              <a:t>=1</a:t>
            </a:r>
            <a:r>
              <a:rPr lang="zh-CN" altLang="en-US" dirty="0"/>
              <a:t>；</a:t>
            </a:r>
            <a:r>
              <a:rPr lang="en-US" altLang="zh-CN" dirty="0" err="1"/>
              <a:t>RegFile</a:t>
            </a:r>
            <a:r>
              <a:rPr lang="en-US" altLang="zh-CN" dirty="0"/>
              <a:t> </a:t>
            </a:r>
            <a:r>
              <a:rPr lang="zh-CN" altLang="en-US" dirty="0"/>
              <a:t>读出 </a:t>
            </a:r>
            <a:r>
              <a:rPr lang="en-US" altLang="zh-CN" dirty="0" err="1"/>
              <a:t>rs</a:t>
            </a:r>
            <a:r>
              <a:rPr lang="en-US" altLang="zh-CN" dirty="0"/>
              <a:t> </a:t>
            </a:r>
            <a:r>
              <a:rPr lang="zh-CN" altLang="en-US" dirty="0"/>
              <a:t>对应的 </a:t>
            </a:r>
            <a:r>
              <a:rPr lang="en-US" altLang="zh-CN" dirty="0"/>
              <a:t>Da</a:t>
            </a:r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zh-CN" altLang="en-US" dirty="0"/>
              <a:t>），</a:t>
            </a:r>
            <a:r>
              <a:rPr lang="en-US" altLang="zh-CN" dirty="0"/>
              <a:t>Extend </a:t>
            </a:r>
            <a:r>
              <a:rPr lang="zh-CN" altLang="en-US" dirty="0"/>
              <a:t>将 </a:t>
            </a:r>
            <a:r>
              <a:rPr lang="en-US" altLang="zh-CN" dirty="0"/>
              <a:t>imm16 </a:t>
            </a:r>
            <a:r>
              <a:rPr lang="zh-CN" altLang="en-US" dirty="0"/>
              <a:t>扩展为 </a:t>
            </a:r>
            <a:r>
              <a:rPr lang="en-US" altLang="zh-CN" dirty="0"/>
              <a:t>32 </a:t>
            </a:r>
            <a:r>
              <a:rPr lang="zh-CN" altLang="en-US" dirty="0"/>
              <a:t>位 </a:t>
            </a:r>
            <a:r>
              <a:rPr lang="en-US" altLang="zh-CN" dirty="0"/>
              <a:t>extend</a:t>
            </a:r>
            <a:r>
              <a:rPr lang="zh-CN" altLang="en-US" dirty="0"/>
              <a:t>；</a:t>
            </a:r>
            <a:r>
              <a:rPr lang="en-US" altLang="zh-CN" dirty="0" err="1"/>
              <a:t>DelayReg</a:t>
            </a:r>
            <a:r>
              <a:rPr lang="zh-CN" altLang="en-US" dirty="0"/>
              <a:t>（</a:t>
            </a:r>
            <a:r>
              <a:rPr lang="en-US" altLang="zh-CN" dirty="0"/>
              <a:t>ADR</a:t>
            </a:r>
            <a:r>
              <a:rPr lang="zh-CN" altLang="en-US" dirty="0"/>
              <a:t>）锁存 </a:t>
            </a:r>
            <a:r>
              <a:rPr lang="en-US" altLang="zh-CN" dirty="0"/>
              <a:t>A </a:t>
            </a:r>
            <a:r>
              <a:rPr lang="zh-CN" altLang="en-US" dirty="0"/>
              <a:t>为 </a:t>
            </a:r>
            <a:r>
              <a:rPr lang="en-US" altLang="zh-CN" dirty="0" err="1"/>
              <a:t>dataA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执行（</a:t>
            </a:r>
            <a:r>
              <a:rPr lang="en-US" altLang="zh-CN" dirty="0" err="1"/>
              <a:t>sEXE</a:t>
            </a:r>
            <a:r>
              <a:rPr lang="zh-CN" altLang="en-US" dirty="0"/>
              <a:t>）：</a:t>
            </a:r>
            <a:r>
              <a:rPr lang="en-US" altLang="zh-CN" dirty="0" err="1"/>
              <a:t>ControlUnit</a:t>
            </a:r>
            <a:r>
              <a:rPr lang="en-US" altLang="zh-CN" dirty="0"/>
              <a:t> </a:t>
            </a:r>
            <a:r>
              <a:rPr lang="zh-CN" altLang="en-US" dirty="0"/>
              <a:t>输出 </a:t>
            </a:r>
            <a:r>
              <a:rPr lang="en-US" altLang="zh-CN" dirty="0" err="1"/>
              <a:t>ALUop</a:t>
            </a:r>
            <a:r>
              <a:rPr lang="en-US" altLang="zh-CN" dirty="0"/>
              <a:t>=ALU_ADD</a:t>
            </a:r>
            <a:r>
              <a:rPr lang="zh-CN" altLang="en-US" dirty="0"/>
              <a:t>（</a:t>
            </a:r>
            <a:r>
              <a:rPr lang="en-US" altLang="zh-CN" dirty="0"/>
              <a:t>4'b0010</a:t>
            </a:r>
            <a:r>
              <a:rPr lang="zh-CN" altLang="en-US" dirty="0"/>
              <a:t>）；</a:t>
            </a:r>
            <a:r>
              <a:rPr lang="en-US" altLang="zh-CN" dirty="0"/>
              <a:t>ALU </a:t>
            </a:r>
            <a:r>
              <a:rPr lang="zh-CN" altLang="en-US" dirty="0"/>
              <a:t>选择 </a:t>
            </a:r>
            <a:r>
              <a:rPr lang="en-US" altLang="zh-CN" dirty="0" err="1"/>
              <a:t>dataA</a:t>
            </a:r>
            <a:r>
              <a:rPr lang="zh-CN" altLang="en-US" dirty="0"/>
              <a:t>（</a:t>
            </a:r>
            <a:r>
              <a:rPr lang="en-US" altLang="zh-CN" dirty="0" err="1"/>
              <a:t>DataInA</a:t>
            </a:r>
            <a:r>
              <a:rPr lang="zh-CN" altLang="en-US" dirty="0"/>
              <a:t>）和 </a:t>
            </a:r>
            <a:r>
              <a:rPr lang="en-US" altLang="zh-CN" dirty="0"/>
              <a:t>extend</a:t>
            </a:r>
            <a:r>
              <a:rPr lang="zh-CN" altLang="en-US" dirty="0"/>
              <a:t>（</a:t>
            </a:r>
            <a:r>
              <a:rPr lang="en-US" altLang="zh-CN" dirty="0" err="1"/>
              <a:t>DataInB</a:t>
            </a:r>
            <a:r>
              <a:rPr lang="zh-CN" altLang="en-US" dirty="0"/>
              <a:t>，因 </a:t>
            </a:r>
            <a:r>
              <a:rPr lang="en-US" altLang="zh-CN" dirty="0" err="1"/>
              <a:t>ALUSrcB</a:t>
            </a:r>
            <a:r>
              <a:rPr lang="en-US" altLang="zh-CN" dirty="0"/>
              <a:t>=1</a:t>
            </a:r>
            <a:r>
              <a:rPr lang="zh-CN" altLang="en-US" dirty="0"/>
              <a:t>），计算 </a:t>
            </a:r>
            <a:r>
              <a:rPr lang="en-US" altLang="zh-CN" dirty="0" err="1"/>
              <a:t>dataA+extend</a:t>
            </a:r>
            <a:r>
              <a:rPr lang="zh-CN" altLang="en-US" dirty="0"/>
              <a:t>，输出 </a:t>
            </a:r>
            <a:r>
              <a:rPr lang="en-US" altLang="zh-CN" dirty="0"/>
              <a:t>result</a:t>
            </a:r>
            <a:r>
              <a:rPr lang="zh-CN" altLang="en-US" dirty="0"/>
              <a:t>；</a:t>
            </a:r>
            <a:r>
              <a:rPr lang="en-US" altLang="zh-CN" dirty="0" err="1"/>
              <a:t>DelayReg</a:t>
            </a:r>
            <a:r>
              <a:rPr lang="zh-CN" altLang="en-US" dirty="0"/>
              <a:t>（</a:t>
            </a:r>
            <a:r>
              <a:rPr lang="en-US" altLang="zh-CN" dirty="0" err="1"/>
              <a:t>ALUoutDR</a:t>
            </a:r>
            <a:r>
              <a:rPr lang="zh-CN" altLang="en-US" dirty="0"/>
              <a:t>）锁存 </a:t>
            </a:r>
            <a:r>
              <a:rPr lang="en-US" altLang="zh-CN" dirty="0"/>
              <a:t>result </a:t>
            </a:r>
            <a:r>
              <a:rPr lang="zh-CN" altLang="en-US" dirty="0"/>
              <a:t>为 </a:t>
            </a:r>
            <a:r>
              <a:rPr lang="en-US" altLang="zh-CN" dirty="0" err="1"/>
              <a:t>dataResult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写回（</a:t>
            </a:r>
            <a:r>
              <a:rPr lang="en-US" altLang="zh-CN" dirty="0" err="1"/>
              <a:t>sWB</a:t>
            </a:r>
            <a:r>
              <a:rPr lang="zh-CN" altLang="en-US" dirty="0"/>
              <a:t>）：</a:t>
            </a:r>
            <a:r>
              <a:rPr lang="en-US" altLang="zh-CN" dirty="0" err="1"/>
              <a:t>ControlUnit</a:t>
            </a:r>
            <a:r>
              <a:rPr lang="en-US" altLang="zh-CN" dirty="0"/>
              <a:t> </a:t>
            </a:r>
            <a:r>
              <a:rPr lang="zh-CN" altLang="en-US" dirty="0"/>
              <a:t>输出 </a:t>
            </a:r>
            <a:r>
              <a:rPr lang="en-US" altLang="zh-CN" dirty="0" err="1"/>
              <a:t>RegWr</a:t>
            </a:r>
            <a:r>
              <a:rPr lang="en-US" altLang="zh-CN" dirty="0"/>
              <a:t>=1</a:t>
            </a:r>
            <a:r>
              <a:rPr lang="zh-CN" altLang="en-US" dirty="0"/>
              <a:t>、</a:t>
            </a:r>
            <a:r>
              <a:rPr lang="en-US" altLang="zh-CN" dirty="0" err="1"/>
              <a:t>RegDst</a:t>
            </a:r>
            <a:r>
              <a:rPr lang="en-US" altLang="zh-CN" dirty="0"/>
              <a:t>=2'b01</a:t>
            </a:r>
            <a:r>
              <a:rPr lang="zh-CN" altLang="en-US" dirty="0"/>
              <a:t>（目标寄存器为 </a:t>
            </a:r>
            <a:r>
              <a:rPr lang="en-US" altLang="zh-CN" dirty="0"/>
              <a:t>rt</a:t>
            </a:r>
            <a:r>
              <a:rPr lang="zh-CN" altLang="en-US" dirty="0"/>
              <a:t>）、</a:t>
            </a:r>
            <a:r>
              <a:rPr lang="en-US" altLang="zh-CN" dirty="0" err="1"/>
              <a:t>WrRegDSrc</a:t>
            </a:r>
            <a:r>
              <a:rPr lang="en-US" altLang="zh-CN" dirty="0"/>
              <a:t>=1</a:t>
            </a:r>
            <a:r>
              <a:rPr lang="zh-CN" altLang="en-US" dirty="0"/>
              <a:t>；</a:t>
            </a:r>
            <a:r>
              <a:rPr lang="en-US" altLang="zh-CN" dirty="0" err="1"/>
              <a:t>RegFile</a:t>
            </a:r>
            <a:r>
              <a:rPr lang="en-US" altLang="zh-CN" dirty="0"/>
              <a:t> </a:t>
            </a:r>
            <a:r>
              <a:rPr lang="zh-CN" altLang="en-US" dirty="0"/>
              <a:t>按 </a:t>
            </a:r>
            <a:r>
              <a:rPr lang="en-US" altLang="zh-CN" dirty="0" err="1"/>
              <a:t>Rw</a:t>
            </a:r>
            <a:r>
              <a:rPr lang="en-US" altLang="zh-CN" dirty="0"/>
              <a:t>=rt</a:t>
            </a:r>
            <a:r>
              <a:rPr lang="zh-CN" altLang="en-US" dirty="0"/>
              <a:t>，将 </a:t>
            </a:r>
            <a:r>
              <a:rPr lang="en-US" altLang="zh-CN" dirty="0" err="1"/>
              <a:t>dataResult</a:t>
            </a:r>
            <a:r>
              <a:rPr lang="en-US" altLang="zh-CN" dirty="0"/>
              <a:t> </a:t>
            </a:r>
            <a:r>
              <a:rPr lang="zh-CN" altLang="en-US" dirty="0"/>
              <a:t>写入对应寄存器。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8308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1583</Words>
  <Application>Microsoft Office PowerPoint</Application>
  <PresentationFormat>宽屏</PresentationFormat>
  <Paragraphs>138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子超 袁</dc:creator>
  <cp:lastModifiedBy>子超 袁</cp:lastModifiedBy>
  <cp:revision>14</cp:revision>
  <dcterms:created xsi:type="dcterms:W3CDTF">2026-01-06T11:25:19Z</dcterms:created>
  <dcterms:modified xsi:type="dcterms:W3CDTF">2026-01-07T02:22:38Z</dcterms:modified>
</cp:coreProperties>
</file>